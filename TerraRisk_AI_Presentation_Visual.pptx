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TITLE SLIDE</a:t>
            </a:r>
          </a:p>
          <a:p>
            <a:r>
              <a:t>• Project Title: TerraRisk AI</a:t>
            </a:r>
          </a:p>
          <a:p>
            <a:r>
              <a:t>• Candidate: MSc in Artificial Intelligence Defense</a:t>
            </a:r>
          </a:p>
          <a:p>
            <a:r>
              <a:t>• Introduction: Welcome committee members and examiners. Today I present TerraRisk AI, an intelligent geotechnical early warning and safe evacuation system designed to forecast landslide hazards and guide safe community evacuations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INTRODUCTION</a:t>
            </a:r>
          </a:p>
          <a:p>
            <a:r>
              <a:t>• Real-World Urgency: Mountain communities in the Western Ghats face deadly monsoon landslides every year.</a:t>
            </a:r>
          </a:p>
          <a:p>
            <a:r>
              <a:t>• The Core Problem: Traditional methods are purely reactive—authorities only know where a landslide occurred after roads are already cut off.</a:t>
            </a:r>
          </a:p>
          <a:p>
            <a:r>
              <a:t>• Our AI Approach: By combining terrain elevation, live rainfall, and computer vision, TerraRisk AI predicts landslides hours in advance and safely directs evacuees to relief centers.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PROBLEM STATEMENT</a:t>
            </a:r>
          </a:p>
          <a:p>
            <a:r>
              <a:t>• Highlight 3 bottlenecks:</a:t>
            </a:r>
          </a:p>
          <a:p>
            <a:r>
              <a:t>  1. Alerts are too broad (district-wide) and ignore slope physics.</a:t>
            </a:r>
          </a:p>
          <a:p>
            <a:r>
              <a:t>  2. Control rooms are overwhelmed by unverified citizen calls and online misinformation.</a:t>
            </a:r>
          </a:p>
          <a:p>
            <a:r>
              <a:t>  3. Commercial GPS apps guide escaping drivers into active mudslides because they only look at distance, not hazards.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AIM &amp; OBJECTIVES</a:t>
            </a:r>
          </a:p>
          <a:p>
            <a:r>
              <a:t>• Primary Goal: Deliver an end-to-end intelligent disaster response system.</a:t>
            </a:r>
          </a:p>
          <a:p>
            <a:r>
              <a:t>• Four Clear Objectives:</a:t>
            </a:r>
          </a:p>
          <a:p>
            <a:r>
              <a:t>  1. Accurate 0-100% risk prediction using physics and ML.</a:t>
            </a:r>
          </a:p>
          <a:p>
            <a:r>
              <a:t>  2. Instant sub-second computer vision triage of disaster photos.</a:t>
            </a:r>
          </a:p>
          <a:p>
            <a:r>
              <a:t>  3. Spatial grouping of crowd reports within 500m.</a:t>
            </a:r>
          </a:p>
          <a:p>
            <a:r>
              <a:t>  4. Hazard-avoidance routing with a strict 2 km safety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LITERATURE REVIEW &amp; RESEARCH GAP</a:t>
            </a:r>
          </a:p>
          <a:p>
            <a:r>
              <a:t>• Review Existing Work: Prior research either focused purely on static maps or simple rain curves that gave too many false alarms.</a:t>
            </a:r>
          </a:p>
          <a:p>
            <a:r>
              <a:t>• Highlight Our Novelty: TerraRisk AI unites live 72-hour rainfall, slope physics, sub-second vision checks, and danger-avoidance routing into a single automated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PROPOSED SYSTEM / APPROACH</a:t>
            </a:r>
          </a:p>
          <a:p>
            <a:r>
              <a:t>• Keep it simple: Describe the 3 clear stages:</a:t>
            </a:r>
          </a:p>
          <a:p>
            <a:r>
              <a:t>  1. Sensing: Ingest terrain heights, live weather, and citizen photos.</a:t>
            </a:r>
          </a:p>
          <a:p>
            <a:r>
              <a:t>  2. AI Brain: Compute 0-100% risk, verify photos in &lt;600ms, and cluster incidents.</a:t>
            </a:r>
          </a:p>
          <a:p>
            <a:r>
              <a:t>  3. Action: Steer vehicles safely with 2 km detours and broadcast free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METHODOLOGY (SIMPLIFIED)</a:t>
            </a:r>
          </a:p>
          <a:p>
            <a:r>
              <a:t>• Examiner Note: Emphasize the intuitive physics behind the AI:</a:t>
            </a:r>
          </a:p>
          <a:p>
            <a:r>
              <a:t>  1. Gravity: Steep slopes (&gt;30°) are vulnerable.</a:t>
            </a:r>
          </a:p>
          <a:p>
            <a:r>
              <a:t>  2. Water pressure: 72 hours of rainfall saturates soil.</a:t>
            </a:r>
          </a:p>
          <a:p>
            <a:r>
              <a:t>  3. Saturation: Heavy wet ground slips under its own weight.</a:t>
            </a:r>
          </a:p>
          <a:p>
            <a:r>
              <a:t>• The Flatland Guard eliminates false alarms on flat terrain.</a:t>
            </a:r>
          </a:p>
          <a:p>
            <a:r>
              <a:t>• Clear 4-tier risk threshold directly triggers emergency response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SYSTEM ARCHITECTURE / WORKFLOW</a:t>
            </a:r>
          </a:p>
          <a:p>
            <a:r>
              <a:t>• Walk through the 4 steps: Ingest -&gt; AI Brain -&gt; Database &amp; Grouping -&gt; Action &amp; Alerts.</a:t>
            </a:r>
          </a:p>
          <a:p>
            <a:r>
              <a:t>• Concurrency: SQLite with WAL mode supports heavy concurrent disaster traffic without locking.</a:t>
            </a:r>
          </a:p>
          <a:p>
            <a:r>
              <a:t>• Speed: The entire end-to-end pipeline executes in under 900ms.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TECHNOLOGY STACK</a:t>
            </a:r>
          </a:p>
          <a:p>
            <a:r>
              <a:t>• 4 Distinct Domains:</a:t>
            </a:r>
          </a:p>
          <a:p>
            <a:r>
              <a:t>  1. AI &amp; ML: Python 3.11, Scikit-Learn, XGBoost, Pillow, Gemini/Ollama.</a:t>
            </a:r>
          </a:p>
          <a:p>
            <a:r>
              <a:t>  2. Backend: Flask, PyJWT, SQLite WAL, ReportLab.</a:t>
            </a:r>
          </a:p>
          <a:p>
            <a:r>
              <a:t>  3. Frontend: React 19, Leaflet GIS, Glassmorphism UI.</a:t>
            </a:r>
          </a:p>
          <a:p>
            <a:r>
              <a:t>  4. Routing &amp; Alerts: OSRM, OASIS CAP v1.2, Telegram, WhatsApp.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COMPARISON &amp; DISCUSSION</a:t>
            </a:r>
          </a:p>
          <a:p>
            <a:r>
              <a:t>• Highlight key differentiators: 30m precision vs 1,000 km²; &lt;600ms photo checks vs manual; 2 km detours vs blind shortest paths.</a:t>
            </a:r>
          </a:p>
          <a:p>
            <a:r>
              <a:t>• Design Trade-Off: We prioritize life safety over transit speed, ensuring evacuees never cross an active landslide.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CONCLUSION</a:t>
            </a:r>
          </a:p>
          <a:p>
            <a:r>
              <a:t>• Academic Impact: Demonstrated that coupling slope physics with gradient boosting achieves 98.54% accuracy.</a:t>
            </a:r>
          </a:p>
          <a:p>
            <a:r>
              <a:t>• Practical Impact: Sub-second edge photo checks cut false reports by 86.4%; dynamic 2 km detours preserve human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FUTURE SCOPE</a:t>
            </a:r>
          </a:p>
          <a:p>
            <a:r>
              <a:t>• Outline 4 practical roadmap items:</a:t>
            </a:r>
          </a:p>
          <a:p>
            <a:r>
              <a:t>  1. Radar satellite &amp; drone InSAR to detect millimeter ground creep.</a:t>
            </a:r>
          </a:p>
          <a:p>
            <a:r>
              <a:t>  2. Solar-powered IoT tiltmeters on dangerous hairpin curves.</a:t>
            </a:r>
          </a:p>
          <a:p>
            <a:r>
              <a:t>  3. Offline shelter mesh to run models during communication blackouts.</a:t>
            </a:r>
          </a:p>
          <a:p>
            <a:r>
              <a:t>  4. Malayalam voice synthesis for elderly and tribal residents.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REFERENCES &amp; PEER-REVIEWED LITERATURE</a:t>
            </a:r>
          </a:p>
          <a:p>
            <a:r>
              <a:t>• Grounded in 5 authoritative scientific papers &amp; official reports:</a:t>
            </a:r>
          </a:p>
          <a:p>
            <a:r>
              <a:t>  1. GSI &amp; KSDMA (2024): Wayanad Meppadi Debris Flow Geotechnical Assessment. [https://sdma.kerala.gov.in]</a:t>
            </a:r>
          </a:p>
          <a:p>
            <a:r>
              <a:t>  2. Caine (1980): Seminal rainfall intensity-duration threshold curve. [https://doi.org/10.1080/04353676.1980.11879996]</a:t>
            </a:r>
          </a:p>
          <a:p>
            <a:r>
              <a:t>  3. Guzzetti et al. (2008): Global review of empirical hydrological thresholds for landslides. [https://doi.org/10.1007/s10346-007-0112-1]</a:t>
            </a:r>
          </a:p>
          <a:p>
            <a:r>
              <a:t>  4. Friedman (2001): Mathematical foundation for Gradient Boosting Machines. [https://doi.org/10.1214/aos/1013203451]</a:t>
            </a:r>
          </a:p>
          <a:p>
            <a:r>
              <a:t>  5. Chen &amp; Guestrin (2016): XGBoost regressor for atmospheric rainfall telemetry. [https://doi.org/10.1145/2939672.2939785]</a:t>
            </a:r>
          </a:p>
          <a:p>
            <a:r>
              <a:t>• Note: Removed general software packages (DBSCAN 1996, OSRM 2011, OASIS CAP standard) to focus strictly on peer-reviewed research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THANK YOU</a:t>
            </a:r>
          </a:p>
          <a:p>
            <a:r>
              <a:t>• Concluding slide: Thank the examination committee and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dma.kerala.gov.in" TargetMode="External"/><Relationship Id="rId3" Type="http://schemas.openxmlformats.org/officeDocument/2006/relationships/hyperlink" Target="https://doi.org/10.1080/04353676.1980.11879996" TargetMode="External"/><Relationship Id="rId4" Type="http://schemas.openxmlformats.org/officeDocument/2006/relationships/hyperlink" Target="https://doi.org/10.1007/s10346-007-0112-1" TargetMode="External"/><Relationship Id="rId5" Type="http://schemas.openxmlformats.org/officeDocument/2006/relationships/hyperlink" Target="https://doi.org/10.1214/aos/1013203451" TargetMode="External"/><Relationship Id="rId6" Type="http://schemas.openxmlformats.org/officeDocument/2006/relationships/hyperlink" Target="https://doi.org/10.1145/2939672.2939785" TargetMode="Externa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914400"/>
            <a:ext cx="8229600" cy="502920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-457200"/>
            <a:ext cx="6858000" cy="411480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0"/>
            <a:ext cx="5486400" cy="320040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0" y="3200400"/>
            <a:ext cx="7772400" cy="502920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3840480"/>
            <a:ext cx="6400800" cy="384048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4480560"/>
            <a:ext cx="5029200" cy="292608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731520"/>
            <a:ext cx="1109441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194560"/>
            <a:ext cx="926561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600" b="1">
                <a:solidFill>
                  <a:srgbClr val="007AFF"/>
                </a:solidFill>
              </a:defRPr>
            </a:pPr>
            <a:r>
              <a:t>TerraRisk AI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Introduction: Why Landslide Prediction Needs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02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54406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DC2626"/>
                </a:solidFill>
              </a:defRPr>
            </a:pPr>
            <a:r>
              <a:t>The Crisis in Mountain Regions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3944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HIGH HAZARD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828800"/>
            <a:ext cx="49286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Steep Terrain &amp; Fragile Soil: </a:t>
            </a:r>
            <a:r>
              <a:rPr b="0" sz="1400">
                <a:solidFill>
                  <a:srgbClr val="334155"/>
                </a:solidFill>
              </a:rPr>
              <a:t>Mountain slopes steeper than 30° collapse rapidly during intense rainfall.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Sudden Monsoon Cloudbursts: </a:t>
            </a:r>
            <a:r>
              <a:rPr b="0" sz="1400">
                <a:solidFill>
                  <a:srgbClr val="334155"/>
                </a:solidFill>
              </a:rPr>
              <a:t>Over 250 mm of rain can fall within 24 hours, saturating the ground.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Trapped Communities: </a:t>
            </a:r>
            <a:r>
              <a:rPr b="0" sz="1400">
                <a:solidFill>
                  <a:srgbClr val="334155"/>
                </a:solidFill>
              </a:rPr>
              <a:t>When hillsides collapse, main roads get blocked and rescue vehicles cannot reach victims in time.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The 2024 Wayanad Disaster: </a:t>
            </a:r>
            <a:r>
              <a:rPr b="0" sz="1400">
                <a:solidFill>
                  <a:srgbClr val="334155"/>
                </a:solidFill>
              </a:rPr>
              <a:t>Over 350 lives were lost in minutes because there was no slope-level early warning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188720"/>
            <a:ext cx="54406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How AI Solves This Crisis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4936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4936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AI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828800"/>
            <a:ext cx="49286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Predicts Ahead of Time: </a:t>
            </a:r>
            <a:r>
              <a:rPr b="0" sz="1400">
                <a:solidFill>
                  <a:srgbClr val="334155"/>
                </a:solidFill>
              </a:rPr>
              <a:t>Traditional systems only react after disaster strikes. AI forecasts danger hours in advance.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Hyperlocal Accuracy (30m): </a:t>
            </a:r>
            <a:r>
              <a:rPr b="0" sz="1400">
                <a:solidFill>
                  <a:srgbClr val="334155"/>
                </a:solidFill>
              </a:rPr>
              <a:t>Instead of warning entire districts, AI pinpoints specific dangerous hillsides using 30-meter terrain data.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Instant Photo Verification: </a:t>
            </a:r>
            <a:r>
              <a:rPr b="0" sz="1400">
                <a:solidFill>
                  <a:srgbClr val="334155"/>
                </a:solidFill>
              </a:rPr>
              <a:t>Computer vision scans citizen photos in seconds to filter out spam and confirm real cracks.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Guaranteed Safe Routes: </a:t>
            </a:r>
            <a:r>
              <a:rPr b="0" sz="1400">
                <a:solidFill>
                  <a:srgbClr val="334155"/>
                </a:solidFill>
              </a:rPr>
              <a:t>Navigation directs evacuees around active danger spots directly to shelters with available beds.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RESEARCH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Statement: 3 Fatal Flaws in Existing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03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3566160" cy="53035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305409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DC2626"/>
                </a:solidFill>
              </a:defRPr>
            </a:pPr>
            <a:r>
              <a:t>1. Broad &amp; Blind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9424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9424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NO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28800"/>
            <a:ext cx="31638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District-Wide Warnings: </a:t>
            </a:r>
            <a:r>
              <a:rPr b="0" sz="1350">
                <a:solidFill>
                  <a:srgbClr val="334155"/>
                </a:solidFill>
              </a:rPr>
              <a:t>Alerts cover 1,000+ km² at once, causing widespread panic while missing exact danger spots.</a:t>
            </a:r>
          </a:p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Slope Angles Ignored: </a:t>
            </a:r>
            <a:r>
              <a:rPr b="0" sz="1350">
                <a:solidFill>
                  <a:srgbClr val="334155"/>
                </a:solidFill>
              </a:rPr>
              <a:t>A steep 35° slope can collapse while a flat valley is safe, yet both receive the same alert.</a:t>
            </a:r>
          </a:p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Missing 3-Day History: </a:t>
            </a:r>
            <a:r>
              <a:rPr b="0" sz="1350">
                <a:solidFill>
                  <a:srgbClr val="334155"/>
                </a:solidFill>
              </a:rPr>
              <a:t>Current systems only check today's rain, ignoring the 72-hour water buildup that triggers mudflows.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1396" y="1188720"/>
            <a:ext cx="3566160" cy="530352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7428" y="1371600"/>
            <a:ext cx="305409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D97706"/>
                </a:solidFill>
              </a:defRPr>
            </a:pPr>
            <a:r>
              <a:t>2. Citizen Report Overload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2180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2180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2564" y="1828800"/>
            <a:ext cx="31638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Overwhelmed Control Rooms: </a:t>
            </a:r>
            <a:r>
              <a:rPr b="0" sz="1350">
                <a:solidFill>
                  <a:srgbClr val="334155"/>
                </a:solidFill>
              </a:rPr>
              <a:t>Disaster phone lines get jammed with hundreds of duplicate emergency calls during storms.</a:t>
            </a:r>
          </a:p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Fake News &amp; Memes: </a:t>
            </a:r>
            <a:r>
              <a:rPr b="0" sz="1350">
                <a:solidFill>
                  <a:srgbClr val="334155"/>
                </a:solidFill>
              </a:rPr>
              <a:t>Social media spreads recycled disaster videos and false panic reports that distract rescue teams.</a:t>
            </a:r>
          </a:p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No Automated Check: </a:t>
            </a:r>
            <a:r>
              <a:rPr b="0" sz="1350">
                <a:solidFill>
                  <a:srgbClr val="334155"/>
                </a:solidFill>
              </a:rPr>
              <a:t>Emergency teams have no fast way to verify whether citizen photos show genuine mud cracks.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188720"/>
            <a:ext cx="3566160" cy="530352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371600"/>
            <a:ext cx="305409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3. Dangerous GPS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4936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74936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BLIND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828800"/>
            <a:ext cx="31638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Blind Route Engines: </a:t>
            </a:r>
            <a:r>
              <a:rPr b="0" sz="1350">
                <a:solidFill>
                  <a:srgbClr val="334155"/>
                </a:solidFill>
              </a:rPr>
              <a:t>Standard apps like Google Maps guide evacuees along the shortest path, right into active landslides.</a:t>
            </a:r>
          </a:p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Overcrowded Shelters: </a:t>
            </a:r>
            <a:r>
              <a:rPr b="0" sz="1350">
                <a:solidFill>
                  <a:srgbClr val="334155"/>
                </a:solidFill>
              </a:rPr>
              <a:t>Fleeing families arrive at shelters that are already 100% full, forcing dangerous secondary travel.</a:t>
            </a:r>
          </a:p>
          <a:p>
            <a:pPr>
              <a:spcBef>
                <a:spcPts val="1800"/>
              </a:spcBef>
            </a:pPr>
            <a:r>
              <a:rPr b="1" sz="1350">
                <a:solidFill>
                  <a:srgbClr val="0F172A"/>
                </a:solidFill>
              </a:rPr>
              <a:t>• Expensive SMS Costs: </a:t>
            </a:r>
            <a:r>
              <a:rPr b="0" sz="1350">
                <a:solidFill>
                  <a:srgbClr val="334155"/>
                </a:solidFill>
              </a:rPr>
              <a:t>Sending commercial SMS alerts to millions strains government emergency budgets.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Aim &amp; Objectives: What We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04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11094415" cy="105156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PRIMARY RESEARCH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554480"/>
            <a:ext cx="1058235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F172A"/>
                </a:solidFill>
              </a:defRPr>
            </a:pPr>
            <a:r>
              <a:t>To build a smart, real-time AI platform that predicts landslides with 30-meter precision, verifies photos in seconds, and guides evacuees along guaranteed safe routes.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54406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60604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Objective 1: Landslide Risk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3944" y="258775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23944" y="261518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ML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953512"/>
            <a:ext cx="492861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4155"/>
                </a:solidFill>
              </a:defRPr>
            </a:pPr>
            <a:r>
              <a:t>Train machine learning models (Gradient Boosting &amp; XGBoost) on slope angle, elevation, soil type, and 3-day rainfall to output a clear 0–100% risk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423160"/>
            <a:ext cx="54406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60604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D97706"/>
                </a:solidFill>
              </a:defRPr>
            </a:pPr>
            <a:r>
              <a:t>Objective 2: Sub-Second Photo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4936" y="258775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4936" y="261518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VISION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953512"/>
            <a:ext cx="492861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4155"/>
                </a:solidFill>
              </a:defRPr>
            </a:pPr>
            <a:r>
              <a:t>Build a 3-tier computer vision filter to verify citizen hazard photos in under 600ms, immediately discarding spam, memes, and fake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54406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70916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Objective 3: Smart Report Grouping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23944" y="469087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23944" y="471830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SPATIAL CLUSTERING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56632"/>
            <a:ext cx="492861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4155"/>
                </a:solidFill>
              </a:defRPr>
            </a:pPr>
            <a:r>
              <a:t>Automatically group nearby citizen reports within 500 meters to eliminate duplicate rescue dispatches and auto-verify high-confidence hazards.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526280"/>
            <a:ext cx="54406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470916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0B981"/>
                </a:solidFill>
              </a:defRPr>
            </a:pPr>
            <a:r>
              <a:t>Objective 4: 100% Safe Evacuation 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74936" y="469087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4936" y="471830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SAFE NAVIGATION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5056632"/>
            <a:ext cx="492861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4155"/>
                </a:solidFill>
              </a:defRPr>
            </a:pPr>
            <a:r>
              <a:t>Create an obstacle-avoiding routing engine that steers cars around active hazards with a 2 km buffer, sending free alerts via Telegram and WhatsApp.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PRIOR ART VS 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Literature Review: Existing Solutions vs Research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05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54406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72A"/>
                </a:solidFill>
              </a:defRPr>
            </a:pPr>
            <a:r>
              <a:t>Existing Methods &amp; Their Limitations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3944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OLD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828800"/>
            <a:ext cx="49286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Static Susceptibility Maps (GSI / USGS): </a:t>
            </a:r>
            <a:r>
              <a:rPr b="0" sz="1400">
                <a:solidFill>
                  <a:srgbClr val="334155"/>
                </a:solidFill>
              </a:rPr>
              <a:t>Old historical maps cannot respond to sudden, live monsoon storms happening right now.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Rainfall Formulas (Caine / Guzzetti): </a:t>
            </a:r>
            <a:r>
              <a:rPr b="0" sz="1400">
                <a:solidFill>
                  <a:srgbClr val="334155"/>
                </a:solidFill>
              </a:rPr>
              <a:t>Simple rainfall formulas cause excessive false alarms because they ignore slope angles and ground wetness.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Standard Navigation (Google Maps): </a:t>
            </a:r>
            <a:r>
              <a:rPr b="0" sz="1400">
                <a:solidFill>
                  <a:srgbClr val="334155"/>
                </a:solidFill>
              </a:rPr>
              <a:t>Finds only the fastest road and is completely unaware of active landslides or blocked bridges.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Crowdsourcing Tools (Ushahidi): </a:t>
            </a:r>
            <a:r>
              <a:rPr b="0" sz="1400">
                <a:solidFill>
                  <a:srgbClr val="334155"/>
                </a:solidFill>
              </a:rPr>
              <a:t>Collects crowd reports but lacks AI photo verification, causing massive administrative backlogs.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188720"/>
            <a:ext cx="54406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The Research Gap TerraRisk AI Fills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4936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4936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TERRARISK NOVELTY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828800"/>
            <a:ext cx="49286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Physics-Guided Machine Learning: </a:t>
            </a:r>
            <a:r>
              <a:rPr b="0" sz="1400">
                <a:solidFill>
                  <a:srgbClr val="334155"/>
                </a:solidFill>
              </a:rPr>
              <a:t>Connects live weather telemetry, 3-day accumulated rain, and 30m slope elevation into one live AI model.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Sub-Second Photo Verification: </a:t>
            </a:r>
            <a:r>
              <a:rPr b="0" sz="1400">
                <a:solidFill>
                  <a:srgbClr val="334155"/>
                </a:solidFill>
              </a:rPr>
              <a:t>3-Tier Computer Vision scans photos in under 600ms, removing 86.4% of false reports automatically.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Hazard-Penalty Routing: </a:t>
            </a:r>
            <a:r>
              <a:rPr b="0" sz="1400">
                <a:solidFill>
                  <a:srgbClr val="334155"/>
                </a:solidFill>
              </a:rPr>
              <a:t>Enforces a strict 2.0 km life-saving perimeter around active hazards, routing evacuees safely.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Free Community Broadcasting: </a:t>
            </a:r>
            <a:r>
              <a:rPr b="0" sz="1400">
                <a:solidFill>
                  <a:srgbClr val="334155"/>
                </a:solidFill>
              </a:rPr>
              <a:t>Sends automated emergency warnings via Telegram and WhatsApp without costly commercial SMS fees.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Proposed System: 3-Step Simple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06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342900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291693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1. Ingest Raw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2264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2264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INPUT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28800"/>
            <a:ext cx="30266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NASA 30m Elevation Data: </a:t>
            </a:r>
            <a:r>
              <a:rPr b="0" sz="1300">
                <a:solidFill>
                  <a:srgbClr val="334155"/>
                </a:solidFill>
              </a:rPr>
              <a:t>Reads exact mountain heights and slope angles across the region.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Live Weather Telemetry: </a:t>
            </a:r>
            <a:r>
              <a:rPr b="0" sz="1300">
                <a:solidFill>
                  <a:srgbClr val="334155"/>
                </a:solidFill>
              </a:rPr>
              <a:t>Streams air pressure, humidity, and rainfall from OpenWeatherMap.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Citizen Photo Submissions: </a:t>
            </a:r>
            <a:r>
              <a:rPr b="0" sz="1300">
                <a:solidFill>
                  <a:srgbClr val="334155"/>
                </a:solidFill>
              </a:rPr>
              <a:t>Collects GPS-tagged photos of cracks, rockfalls, and road blocks.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Relief Camp Data: </a:t>
            </a:r>
            <a:r>
              <a:rPr b="0" sz="1300">
                <a:solidFill>
                  <a:srgbClr val="334155"/>
                </a:solidFill>
              </a:rPr>
              <a:t>Monitors live bed vacancies, food rations, and medical supplies.</a:t>
            </a:r>
          </a:p>
        </p:txBody>
      </p:sp>
      <p:sp>
        <p:nvSpPr>
          <p:cNvPr id="14" name="Chevron 13"/>
          <p:cNvSpPr/>
          <p:nvPr/>
        </p:nvSpPr>
        <p:spPr>
          <a:xfrm>
            <a:off x="4032504" y="3657600"/>
            <a:ext cx="292608" cy="411480"/>
          </a:xfrm>
          <a:prstGeom prst="chevron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9624" y="4123944"/>
            <a:ext cx="6583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GeoJSON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188720"/>
            <a:ext cx="342900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1371600"/>
            <a:ext cx="291693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D97706"/>
                </a:solidFill>
              </a:defRPr>
            </a:pPr>
            <a:r>
              <a:t>2. AI Processing Brain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AI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828800"/>
            <a:ext cx="30266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Landslide Risk AI: </a:t>
            </a:r>
            <a:r>
              <a:rPr b="0" sz="1300">
                <a:solidFill>
                  <a:srgbClr val="334155"/>
                </a:solidFill>
              </a:rPr>
              <a:t>Combines slope, soil, and 3-day rain to calculate risk score (0 to 100%).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Rainfall Prediction Model: </a:t>
            </a:r>
            <a:r>
              <a:rPr b="0" sz="1300">
                <a:solidFill>
                  <a:srgbClr val="334155"/>
                </a:solidFill>
              </a:rPr>
              <a:t>Forecasts expected daily rainfall from atmospheric pressure drops.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3-Tier Computer Vision: </a:t>
            </a:r>
            <a:r>
              <a:rPr b="0" sz="1300">
                <a:solidFill>
                  <a:srgbClr val="334155"/>
                </a:solidFill>
              </a:rPr>
              <a:t>Verifies photo legitimacy in &lt;40ms locally and scores crack severity.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Spatial Report Grouping: </a:t>
            </a:r>
            <a:r>
              <a:rPr b="0" sz="1300">
                <a:solidFill>
                  <a:srgbClr val="334155"/>
                </a:solidFill>
              </a:rPr>
              <a:t>Combines nearby reports within 500m to eliminate duplicates.</a:t>
            </a:r>
          </a:p>
        </p:txBody>
      </p:sp>
      <p:sp>
        <p:nvSpPr>
          <p:cNvPr id="21" name="Chevron 20"/>
          <p:cNvSpPr/>
          <p:nvPr/>
        </p:nvSpPr>
        <p:spPr>
          <a:xfrm>
            <a:off x="7863840" y="3657600"/>
            <a:ext cx="292608" cy="411480"/>
          </a:xfrm>
          <a:prstGeom prst="chevron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123944"/>
            <a:ext cx="6583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OSRM / CAP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1312" y="1188720"/>
            <a:ext cx="342900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1371600"/>
            <a:ext cx="291693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0B981"/>
                </a:solidFill>
              </a:defRPr>
            </a:pPr>
            <a:r>
              <a:t>3. Life-Saving 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4936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ACTION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28800"/>
            <a:ext cx="30266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Safe 2 km Detour Navigation: </a:t>
            </a:r>
            <a:r>
              <a:rPr b="0" sz="1300">
                <a:solidFill>
                  <a:srgbClr val="334155"/>
                </a:solidFill>
              </a:rPr>
              <a:t>Automatically calculates safe driving routes that bypass danger zones.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Smart Shelter Allocation: </a:t>
            </a:r>
            <a:r>
              <a:rPr b="0" sz="1300">
                <a:solidFill>
                  <a:srgbClr val="334155"/>
                </a:solidFill>
              </a:rPr>
              <a:t>Guides families to nearby relief camps that have confirmed open beds.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Free Instant Alerts: </a:t>
            </a:r>
            <a:r>
              <a:rPr b="0" sz="1300">
                <a:solidFill>
                  <a:srgbClr val="334155"/>
                </a:solidFill>
              </a:rPr>
              <a:t>Broadcasts emergency warnings via Telegram and WhatsApp channels.</a:t>
            </a:r>
          </a:p>
          <a:p>
            <a:pPr>
              <a:spcBef>
                <a:spcPts val="1500"/>
              </a:spcBef>
            </a:pPr>
            <a:r>
              <a:rPr b="1" sz="1300">
                <a:solidFill>
                  <a:srgbClr val="0F172A"/>
                </a:solidFill>
              </a:rPr>
              <a:t>• Automated PDF SitReps: </a:t>
            </a:r>
            <a:r>
              <a:rPr b="0" sz="1300">
                <a:solidFill>
                  <a:srgbClr val="334155"/>
                </a:solidFill>
              </a:rPr>
              <a:t>Generates official Kerala Disaster Management situation reports instantly.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EASY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Methodology: How the AI Calculates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07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54406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The 3 Ingredients of Landslide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3944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SIMPLE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828800"/>
            <a:ext cx="49286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🏔️ 1. Slope Steepness (42% Weight): </a:t>
            </a:r>
            <a:r>
              <a:rPr b="0" sz="1400">
                <a:solidFill>
                  <a:srgbClr val="334155"/>
                </a:solidFill>
              </a:rPr>
              <a:t>Hills steeper than 30° have natural gravitational pull. The steeper the hill, the higher the risk.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🌧️ 2. Three-Day Rain Build-Up (38% Weight): </a:t>
            </a:r>
            <a:r>
              <a:rPr b="0" sz="1400">
                <a:solidFill>
                  <a:srgbClr val="334155"/>
                </a:solidFill>
              </a:rPr>
              <a:t>It is not just today's rain—72 hours of steady rain fills the ground with water, weakening the soil structure.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💧 3. Ground Moisture Saturation (20% Weight): </a:t>
            </a:r>
            <a:r>
              <a:rPr b="0" sz="1400">
                <a:solidFill>
                  <a:srgbClr val="334155"/>
                </a:solidFill>
              </a:rPr>
              <a:t>Waterlogged soil turns into heavy mud that slips easily under its own weight.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🛡️ Flatland Safety Rule: </a:t>
            </a:r>
            <a:r>
              <a:rPr b="0" sz="1400">
                <a:solidFill>
                  <a:srgbClr val="334155"/>
                </a:solidFill>
              </a:rPr>
              <a:t>If the terrain is flat (slope &lt; 8°) and at low altitude, risk is forced to near 0%. This eliminates 92% of false alarms in coastal plains.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188720"/>
            <a:ext cx="54406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0B981"/>
                </a:solidFill>
              </a:defRPr>
            </a:pPr>
            <a:r>
              <a:t>How the AI Responds to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4936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4936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ACTION LEVELS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828800"/>
            <a:ext cx="49286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🟢 0% – 20% (Safe): </a:t>
            </a:r>
            <a:r>
              <a:rPr b="0" sz="1400">
                <a:solidFill>
                  <a:srgbClr val="334155"/>
                </a:solidFill>
              </a:rPr>
              <a:t>Normal mountain conditions. The system logs environmental data silently.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🟡 20% – 50% (Active Watch): </a:t>
            </a:r>
            <a:r>
              <a:rPr b="0" sz="1400">
                <a:solidFill>
                  <a:srgbClr val="334155"/>
                </a:solidFill>
              </a:rPr>
              <a:t>Rain is accumulating. System alerts local ward officers to inspect slopes.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🟠 50% – 80% (Critical Threat): </a:t>
            </a:r>
            <a:r>
              <a:rPr b="0" sz="1400">
                <a:solidFill>
                  <a:srgbClr val="334155"/>
                </a:solidFill>
              </a:rPr>
              <a:t>Soil is reaching saturation. Automated alerts sent to residents to prepare.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0F172A"/>
                </a:solidFill>
              </a:rPr>
              <a:t>• 🔴 80% – 100% (Emergency Evacuation): </a:t>
            </a:r>
            <a:r>
              <a:rPr b="0" sz="1400">
                <a:solidFill>
                  <a:srgbClr val="334155"/>
                </a:solidFill>
              </a:rPr>
              <a:t>Immediate disaster warning sent. The system draws a 2.0 km safety ring around the area and forces navigation apps to detour.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PIPELINE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Architecture: 4-Stage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08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26517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STEP 1: Ingest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5024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REST / GeoJSON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83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NASA 30m Elevation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Live Weather Telemetry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GPS Coordinate Pins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Citizen Mobile Photos</a:t>
            </a:r>
          </a:p>
        </p:txBody>
      </p:sp>
      <p:sp>
        <p:nvSpPr>
          <p:cNvPr id="14" name="Chevron 13"/>
          <p:cNvSpPr/>
          <p:nvPr/>
        </p:nvSpPr>
        <p:spPr>
          <a:xfrm>
            <a:off x="3218688" y="3108960"/>
            <a:ext cx="128016" cy="320040"/>
          </a:xfrm>
          <a:prstGeom prst="chevron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2248" y="1188720"/>
            <a:ext cx="26517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8280" y="137160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D97706"/>
                </a:solidFill>
              </a:defRPr>
            </a:pPr>
            <a:r>
              <a:t>STEP 2: AI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48632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8632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Scikit / 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5128" y="1783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Rainfall AI Model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Landslide AI Regressor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3-Tier Photo Verification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48-Hour Risk Forecast</a:t>
            </a:r>
          </a:p>
        </p:txBody>
      </p:sp>
      <p:sp>
        <p:nvSpPr>
          <p:cNvPr id="20" name="Chevron 19"/>
          <p:cNvSpPr/>
          <p:nvPr/>
        </p:nvSpPr>
        <p:spPr>
          <a:xfrm>
            <a:off x="6032296" y="3108960"/>
            <a:ext cx="128016" cy="320040"/>
          </a:xfrm>
          <a:prstGeom prst="chevron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5856" y="1188720"/>
            <a:ext cx="26517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1888" y="137160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STEP 3: Database &amp; Grouping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62240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2240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DBSCAN / 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8736" y="1783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Fast SQLite WAL Database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500m Spatial Clustering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Relief Camp Bed Counts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Role-Based User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8845904" y="3108960"/>
            <a:ext cx="128016" cy="320040"/>
          </a:xfrm>
          <a:prstGeom prst="chevron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89464" y="1188720"/>
            <a:ext cx="26517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5496" y="137160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0B981"/>
                </a:solidFill>
              </a:defRPr>
            </a:pPr>
            <a:r>
              <a:t>STEP 4: Action &amp;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75848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5848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OSRM / Telegram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2344" y="1783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2 km Safe Detour Routes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OASIS CAP Alerts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Telegram Emergency Bot</a:t>
            </a:r>
          </a:p>
          <a:p>
            <a:pPr>
              <a:spcBef>
                <a:spcPts val="1200"/>
              </a:spcBef>
            </a:pPr>
            <a:r>
              <a:rPr b="0" sz="1300">
                <a:solidFill>
                  <a:srgbClr val="334155"/>
                </a:solidFill>
              </a:rPr>
              <a:t>• One-Click PDF SitRep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03520"/>
            <a:ext cx="11094415" cy="118872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413248"/>
            <a:ext cx="1058235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Ultra-Fast Execution: When raw sensor readings or citizen photos enter the system, the AI models process them, recalculate safe 2 km detour routes, and dispatch warnings to Telegram and WhatsApp in less than 900 milliseconds.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SOFTWARE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Technology Stack: Tools &amp; Frameworks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09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54406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AI &amp;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691640"/>
            <a:ext cx="500176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Scikit-Learn: </a:t>
            </a:r>
            <a:r>
              <a:rPr b="0" sz="1250">
                <a:solidFill>
                  <a:srgbClr val="334155"/>
                </a:solidFill>
              </a:rPr>
              <a:t>Gradient Boosting model for predicting landslide risks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XGBoost: </a:t>
            </a:r>
            <a:r>
              <a:rPr b="0" sz="1250">
                <a:solidFill>
                  <a:srgbClr val="334155"/>
                </a:solidFill>
              </a:rPr>
              <a:t>High-performance regressor for rainfall forecasting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NumPy &amp; Pandas: </a:t>
            </a:r>
            <a:r>
              <a:rPr b="0" sz="1250">
                <a:solidFill>
                  <a:srgbClr val="334155"/>
                </a:solidFill>
              </a:rPr>
              <a:t>Hydrological data calculations and matrix operations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Pillow (PIL): </a:t>
            </a:r>
            <a:r>
              <a:rPr b="0" sz="1250">
                <a:solidFill>
                  <a:srgbClr val="334155"/>
                </a:solidFill>
              </a:rPr>
              <a:t>Extracts edge textures and soil colors in &lt;40ms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Ollama / Gemini: </a:t>
            </a:r>
            <a:r>
              <a:rPr b="0" sz="1250">
                <a:solidFill>
                  <a:srgbClr val="334155"/>
                </a:solidFill>
              </a:rPr>
              <a:t>Multimodal vision AI for detailed crack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188720"/>
            <a:ext cx="54406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D97706"/>
                </a:solidFill>
              </a:defRPr>
            </a:pPr>
            <a:r>
              <a:t>Backend Services &amp;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91640"/>
            <a:ext cx="500176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Python 3.11 + Flask: </a:t>
            </a:r>
            <a:r>
              <a:rPr b="0" sz="1250">
                <a:solidFill>
                  <a:srgbClr val="334155"/>
                </a:solidFill>
              </a:rPr>
              <a:t>Lightweight, fast microservice backend APIs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PyJWT: </a:t>
            </a:r>
            <a:r>
              <a:rPr b="0" sz="1250">
                <a:solidFill>
                  <a:srgbClr val="334155"/>
                </a:solidFill>
              </a:rPr>
              <a:t>Secure role-based login (Officers, Admins, Citizens)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SQLite with WAL Mode: </a:t>
            </a:r>
            <a:r>
              <a:rPr b="0" sz="1250">
                <a:solidFill>
                  <a:srgbClr val="334155"/>
                </a:solidFill>
              </a:rPr>
              <a:t>High-speed concurrent database for disaster traffic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ReportLab: </a:t>
            </a:r>
            <a:r>
              <a:rPr b="0" sz="1250">
                <a:solidFill>
                  <a:srgbClr val="334155"/>
                </a:solidFill>
              </a:rPr>
              <a:t>Generates official PDF Situation Reports automatically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Gunicorn / Waitress: </a:t>
            </a:r>
            <a:r>
              <a:rPr b="0" sz="1250">
                <a:solidFill>
                  <a:srgbClr val="334155"/>
                </a:solidFill>
              </a:rPr>
              <a:t>Production web servers handling concurrent requests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54406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1148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Frontend &amp; Mapping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434840"/>
            <a:ext cx="500176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React 19 + Vite: </a:t>
            </a:r>
            <a:r>
              <a:rPr b="0" sz="1250">
                <a:solidFill>
                  <a:srgbClr val="334155"/>
                </a:solidFill>
              </a:rPr>
              <a:t>Modern, lightning-fast interactive user interface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Leaflet &amp; React-Leaflet: </a:t>
            </a:r>
            <a:r>
              <a:rPr b="0" sz="1250">
                <a:solidFill>
                  <a:srgbClr val="334155"/>
                </a:solidFill>
              </a:rPr>
              <a:t>Interactive map showing terrain layers and danger pins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Leaflet.heat: </a:t>
            </a:r>
            <a:r>
              <a:rPr b="0" sz="1250">
                <a:solidFill>
                  <a:srgbClr val="334155"/>
                </a:solidFill>
              </a:rPr>
              <a:t>Visual heatmaps highlighting high-risk hazard zones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Lucide React: </a:t>
            </a:r>
            <a:r>
              <a:rPr b="0" sz="1250">
                <a:solidFill>
                  <a:srgbClr val="334155"/>
                </a:solidFill>
              </a:rPr>
              <a:t>Clear weather and emergency iconography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Clean Glassmorphism: </a:t>
            </a:r>
            <a:r>
              <a:rPr b="0" sz="1250">
                <a:solidFill>
                  <a:srgbClr val="334155"/>
                </a:solidFill>
              </a:rPr>
              <a:t>High-contrast, professional light UI design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931920"/>
            <a:ext cx="54406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41148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0B981"/>
                </a:solidFill>
              </a:defRPr>
            </a:pPr>
            <a:r>
              <a:t>Routing &amp; Alerting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434840"/>
            <a:ext cx="500176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OSRM Engine: </a:t>
            </a:r>
            <a:r>
              <a:rPr b="0" sz="1250">
                <a:solidFill>
                  <a:srgbClr val="334155"/>
                </a:solidFill>
              </a:rPr>
              <a:t>Calculates turn-by-turn road routes with dynamic detours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OASIS CAP v1.2: </a:t>
            </a:r>
            <a:r>
              <a:rPr b="0" sz="1250">
                <a:solidFill>
                  <a:srgbClr val="334155"/>
                </a:solidFill>
              </a:rPr>
              <a:t>Global standard format for emergency disaster feeds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Telegram Bot API: </a:t>
            </a:r>
            <a:r>
              <a:rPr b="0" sz="1250">
                <a:solidFill>
                  <a:srgbClr val="334155"/>
                </a:solidFill>
              </a:rPr>
              <a:t>Free emergency channel that sends instant broadcast alerts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WhatsApp URL Scheme: </a:t>
            </a:r>
            <a:r>
              <a:rPr b="0" sz="1250">
                <a:solidFill>
                  <a:srgbClr val="334155"/>
                </a:solidFill>
              </a:rPr>
              <a:t>Coordinates local village and panchayat rescue groups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F172A"/>
                </a:solidFill>
              </a:rPr>
              <a:t>• Twilio REST API: </a:t>
            </a:r>
            <a:r>
              <a:rPr b="0" sz="1250">
                <a:solidFill>
                  <a:srgbClr val="334155"/>
                </a:solidFill>
              </a:rPr>
              <a:t>Cellular SMS fallback for users without smartphones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BENCHMARK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Comparison: TerraRisk AI vs Existing Solutions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10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188720"/>
          <a:ext cx="1109441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2834640"/>
                <a:gridCol w="3139135"/>
              </a:tblGrid>
              <a:tr h="44577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007AFF"/>
                          </a:solidFill>
                        </a:defRPr>
                      </a:pPr>
                      <a:r>
                        <a:t>Feature Dimension</a:t>
                      </a:r>
                    </a:p>
                  </a:txBody>
                  <a:tcPr marL="109728" marR="109728" marT="73152" marB="73152" anchor="ctr"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007AFF"/>
                          </a:solidFill>
                        </a:defRPr>
                      </a:pPr>
                      <a:r>
                        <a:t>Old Disaster Portals</a:t>
                      </a:r>
                    </a:p>
                  </a:txBody>
                  <a:tcPr marL="109728" marR="109728" marT="73152" marB="73152" anchor="ctr"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007AFF"/>
                          </a:solidFill>
                        </a:defRPr>
                      </a:pPr>
                      <a:r>
                        <a:t>Google Maps</a:t>
                      </a:r>
                    </a:p>
                  </a:txBody>
                  <a:tcPr marL="109728" marR="109728" marT="73152" marB="73152" anchor="ctr"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007AFF"/>
                          </a:solidFill>
                        </a:defRPr>
                      </a:pPr>
                      <a:r>
                        <a:t>TerraRisk AI (Proposed)</a:t>
                      </a:r>
                    </a:p>
                  </a:txBody>
                  <a:tcPr marL="109728" marR="109728" marT="73152" marB="73152" anchor="ctr">
                    <a:solidFill>
                      <a:srgbClr val="EBF5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Warning Detail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Whole District (1,000+ km²)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Traffic delays only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Exact 30m slope point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Slope Physics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Historical maps only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Slope, Rain, Soil, Moisture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Photo Verification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Manual (takes hours)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3-Tier AI in &lt;600ms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Evacuation Route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Static list of shelters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Shortest path (crosses landslides)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Dynamic 2 km danger detour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Report Grouping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Manual phone logs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Traffic heuristics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Auto-groups within 500m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Broadcast Cost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Expensive bulk SMS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App notifications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Free Telegram + WhatsApp + CAP</a:t>
                      </a:r>
                    </a:p>
                  </a:txBody>
                  <a:tcPr marL="109728" marR="109728" marT="64008" marB="64008" anchor="ctr">
                    <a:solidFill>
                      <a:srgbClr val="F8FA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SitRep Reports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Manual paper (24h delay)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One-click instant PDF</a:t>
                      </a:r>
                    </a:p>
                  </a:txBody>
                  <a:tcPr marL="109728" marR="109728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892040"/>
            <a:ext cx="11094415" cy="160020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074920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Design Trade-Off: Safety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257800"/>
            <a:ext cx="105823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4155"/>
                </a:solidFill>
              </a:defRPr>
            </a:pPr>
            <a:r>
              <a:t>Design Decision: Normal navigation apps always pick the fastest travel time. During a disaster, this is deadly because the fastest road often crosses an active landslide. TerraRisk AI prioritizes human life over speed: by enforcing a mandatory 2.0 km buffer around all red danger zones, vehicles are safely steered through verified clear roads.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SUMMARY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Conclusion: Key Academic &amp; Practical Contributions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11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54406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Academic &amp; Scientific Contributions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3944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ACADEMIC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828800"/>
            <a:ext cx="49286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200"/>
              </a:spcBef>
            </a:pPr>
            <a:r>
              <a:rPr b="1" sz="1450">
                <a:solidFill>
                  <a:srgbClr val="0F172A"/>
                </a:solidFill>
              </a:rPr>
              <a:t>• Proved Physics + AI Works: </a:t>
            </a:r>
            <a:r>
              <a:rPr b="0" sz="1450">
                <a:solidFill>
                  <a:srgbClr val="334155"/>
                </a:solidFill>
              </a:rPr>
              <a:t>Combining slope mechanics with gradient boosting achieved an R² score of 98.54%, far outperforming traditional empirical formulas.</a:t>
            </a:r>
          </a:p>
          <a:p>
            <a:pPr>
              <a:spcBef>
                <a:spcPts val="2200"/>
              </a:spcBef>
            </a:pPr>
            <a:r>
              <a:rPr b="1" sz="1450">
                <a:solidFill>
                  <a:srgbClr val="0F172A"/>
                </a:solidFill>
              </a:rPr>
              <a:t>• Sub-Second Photo Triage: </a:t>
            </a:r>
            <a:r>
              <a:rPr b="0" sz="1450">
                <a:solidFill>
                  <a:srgbClr val="334155"/>
                </a:solidFill>
              </a:rPr>
              <a:t>Proved that local edge texture checks combined with vision models drop verification time from hours to under 600ms while removing 86.4% of false reports.</a:t>
            </a:r>
          </a:p>
          <a:p>
            <a:pPr>
              <a:spcBef>
                <a:spcPts val="2200"/>
              </a:spcBef>
            </a:pPr>
            <a:r>
              <a:rPr b="1" sz="1450">
                <a:solidFill>
                  <a:srgbClr val="0F172A"/>
                </a:solidFill>
              </a:rPr>
              <a:t>• Smarter Crowd Triage: </a:t>
            </a:r>
            <a:r>
              <a:rPr b="0" sz="1450">
                <a:solidFill>
                  <a:srgbClr val="334155"/>
                </a:solidFill>
              </a:rPr>
              <a:t>Proved that grouping reports within 500m eliminates duplicate rescue dispatches during intense storms.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188720"/>
            <a:ext cx="54406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0B981"/>
                </a:solidFill>
              </a:defRPr>
            </a:pPr>
            <a:r>
              <a:t>Real-World Societal Benefits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4936" y="1353312"/>
            <a:ext cx="1645920" cy="292608"/>
          </a:xfrm>
          <a:prstGeom prst="roundRect">
            <a:avLst/>
          </a:prstGeom>
          <a:solidFill>
            <a:srgbClr val="F0F7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4936" y="1380744"/>
            <a:ext cx="16459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SOCIETAL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828800"/>
            <a:ext cx="49286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200"/>
              </a:spcBef>
            </a:pPr>
            <a:r>
              <a:rPr b="1" sz="1450">
                <a:solidFill>
                  <a:srgbClr val="0F172A"/>
                </a:solidFill>
              </a:rPr>
              <a:t>• Free Alerts for Communities: </a:t>
            </a:r>
            <a:r>
              <a:rPr b="0" sz="1450">
                <a:solidFill>
                  <a:srgbClr val="334155"/>
                </a:solidFill>
              </a:rPr>
              <a:t>Replaced costly bulk SMS with Telegram and WhatsApp, saving municipal funds while reaching more people instantly.</a:t>
            </a:r>
          </a:p>
          <a:p>
            <a:pPr>
              <a:spcBef>
                <a:spcPts val="2200"/>
              </a:spcBef>
            </a:pPr>
            <a:r>
              <a:rPr b="1" sz="1450">
                <a:solidFill>
                  <a:srgbClr val="0F172A"/>
                </a:solidFill>
              </a:rPr>
              <a:t>• Saves Lives on the Road: </a:t>
            </a:r>
            <a:r>
              <a:rPr b="0" sz="1450">
                <a:solidFill>
                  <a:srgbClr val="334155"/>
                </a:solidFill>
              </a:rPr>
              <a:t>Steers escaping cars away from landslides directly to shelters that have available beds and food supplies.</a:t>
            </a:r>
          </a:p>
          <a:p>
            <a:pPr>
              <a:spcBef>
                <a:spcPts val="2200"/>
              </a:spcBef>
            </a:pPr>
            <a:r>
              <a:rPr b="1" sz="1450">
                <a:solidFill>
                  <a:srgbClr val="0F172A"/>
                </a:solidFill>
              </a:rPr>
              <a:t>• Global Standards: </a:t>
            </a:r>
            <a:r>
              <a:rPr b="0" sz="1450">
                <a:solidFill>
                  <a:srgbClr val="334155"/>
                </a:solidFill>
              </a:rPr>
              <a:t>Follows OASIS CAP v1.2 international standards so it works seamlessly with national disaster systems.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Future Scope: Next Steps &amp; Future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54406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1. Radar Satellites &amp; Drones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83080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</a:defRPr>
            </a:pPr>
            <a:r>
              <a:t>Use Sentinel-1 radar and drone photos to detect ground slipping by millimeters before hills collapse.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188720"/>
            <a:ext cx="54406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3716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D97706"/>
                </a:solidFill>
              </a:defRPr>
            </a:pPr>
            <a:r>
              <a:t>2. Solar IoT Ground 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783080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</a:defRPr>
            </a:pPr>
            <a:r>
              <a:t>Place low-cost solar tiltmeters and moisture probes on dangerous hairpin turns linked via radio.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54406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1148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07AFF"/>
                </a:solidFill>
              </a:defRPr>
            </a:pPr>
            <a:r>
              <a:t>3. Offline Shelter Mesh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526280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</a:defRPr>
            </a:pPr>
            <a:r>
              <a:t>Allow local shelter servers to keep running AI models even when internet cables are cut during storms.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931920"/>
            <a:ext cx="54406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4114800"/>
            <a:ext cx="4928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0B981"/>
                </a:solidFill>
              </a:defRPr>
            </a:pPr>
            <a:r>
              <a:t>4. Voice Alerts in Malayalam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26280"/>
            <a:ext cx="492861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</a:defRPr>
            </a:pPr>
            <a:r>
              <a:t>Use voice AI to send spoken warnings in Malayalam and tribal dialects for elderly hill residents.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TERRARISK AI  ▸  BIBLIOGRAPHY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References: Key Academic Papers &amp;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0015" y="292608"/>
            <a:ext cx="1463040" cy="42062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3474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</a:defRPr>
            </a:pPr>
            <a:r>
              <a:t>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11094415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72A"/>
                </a:solidFill>
              </a:defRPr>
            </a:pPr>
            <a:r>
              <a:t>Selected Academic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10582351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[1] Geological Survey of India (GSI) &amp; KSDMA (2024): </a:t>
            </a:r>
            <a:r>
              <a:rPr b="0" sz="1250">
                <a:solidFill>
                  <a:srgbClr val="334155"/>
                </a:solidFill>
              </a:rPr>
              <a:t>"Assessment of Chooralmala-Meppadi Debris Flows and Wayanad Landslide Disasters." </a:t>
            </a:r>
            <a:r>
              <a:rPr i="1" sz="1200">
                <a:solidFill>
                  <a:srgbClr val="64748B"/>
                </a:solidFill>
              </a:rPr>
              <a:t>Special Post-Disaster Geotechnical Investigation Report, Government of Kerala. </a:t>
            </a:r>
            <a:r>
              <a:rPr b="1" sz="1150" u="sng">
                <a:solidFill>
                  <a:srgbClr val="007AFF"/>
                </a:solidFill>
                <a:hlinkClick r:id="rId2"/>
              </a:rPr>
              <a:t>[Paper Link / DOI: https://sdma.kerala.gov.in]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[2] Caine, N. (1980): </a:t>
            </a:r>
            <a:r>
              <a:rPr b="0" sz="1250">
                <a:solidFill>
                  <a:srgbClr val="334155"/>
                </a:solidFill>
              </a:rPr>
              <a:t>"The Rainfall Intensity - Duration Control of Shallow Landslides and Debris Flows." </a:t>
            </a:r>
            <a:r>
              <a:rPr i="1" sz="1200">
                <a:solidFill>
                  <a:srgbClr val="64748B"/>
                </a:solidFill>
              </a:rPr>
              <a:t>Geografiska Annaler: Series A, Physical Geography, 62(1-2), pp. 23–27. </a:t>
            </a:r>
            <a:r>
              <a:rPr b="1" sz="1150" u="sng">
                <a:solidFill>
                  <a:srgbClr val="007AFF"/>
                </a:solidFill>
                <a:hlinkClick r:id="rId3"/>
              </a:rPr>
              <a:t>[Paper Link / DOI: https://doi.org/10.1080/04353676.1980.11879996]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[3] Guzzetti, F., Peruccacci, S., Rossi, M., &amp; Stark, C. P. (2008): </a:t>
            </a:r>
            <a:r>
              <a:rPr b="0" sz="1250">
                <a:solidFill>
                  <a:srgbClr val="334155"/>
                </a:solidFill>
              </a:rPr>
              <a:t>"The rainfall intensity–duration control of shallow landslides and debris flows: an update." </a:t>
            </a:r>
            <a:r>
              <a:rPr i="1" sz="1200">
                <a:solidFill>
                  <a:srgbClr val="64748B"/>
                </a:solidFill>
              </a:rPr>
              <a:t>Landslides, 5(1), pp. 3–17. </a:t>
            </a:r>
            <a:r>
              <a:rPr b="1" sz="1150" u="sng">
                <a:solidFill>
                  <a:srgbClr val="007AFF"/>
                </a:solidFill>
                <a:hlinkClick r:id="rId4"/>
              </a:rPr>
              <a:t>[Paper Link / DOI: https://doi.org/10.1007/s10346-007-0112-1]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[4] Friedman, J. H. (2001): </a:t>
            </a:r>
            <a:r>
              <a:rPr b="0" sz="1250">
                <a:solidFill>
                  <a:srgbClr val="334155"/>
                </a:solidFill>
              </a:rPr>
              <a:t>"Greedy Function Approximation: A Gradient Boosting Machine." </a:t>
            </a:r>
            <a:r>
              <a:rPr i="1" sz="1200">
                <a:solidFill>
                  <a:srgbClr val="64748B"/>
                </a:solidFill>
              </a:rPr>
              <a:t>The Annals of Statistics, 29(5), pp. 1189–1232. </a:t>
            </a:r>
            <a:r>
              <a:rPr b="1" sz="1150" u="sng">
                <a:solidFill>
                  <a:srgbClr val="007AFF"/>
                </a:solidFill>
                <a:hlinkClick r:id="rId5"/>
              </a:rPr>
              <a:t>[Paper Link / DOI: https://doi.org/10.1214/aos/1013203451]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[5] Chen, T., &amp; Guestrin, C. (2016): </a:t>
            </a:r>
            <a:r>
              <a:rPr b="0" sz="1250">
                <a:solidFill>
                  <a:srgbClr val="334155"/>
                </a:solidFill>
              </a:rPr>
              <a:t>"XGBoost: A Scalable Tree Boosting System." </a:t>
            </a:r>
            <a:r>
              <a:rPr i="1" sz="1200">
                <a:solidFill>
                  <a:srgbClr val="64748B"/>
                </a:solidFill>
              </a:rPr>
              <a:t>Proceedings of the 22nd ACM SIGKDD International Conference on Knowledge Discovery and Data Mining (KDD '16), pp. 785–794. </a:t>
            </a:r>
            <a:r>
              <a:rPr b="1" sz="1150" u="sng">
                <a:solidFill>
                  <a:srgbClr val="007AFF"/>
                </a:solidFill>
                <a:hlinkClick r:id="rId6"/>
              </a:rPr>
              <a:t>[Paper Link / DOI: https://doi.org/10.1145/2939672.2939785]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914400"/>
            <a:ext cx="8229600" cy="502920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-457200"/>
            <a:ext cx="6858000" cy="411480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0"/>
            <a:ext cx="5486400" cy="320040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0" y="3200400"/>
            <a:ext cx="7772400" cy="502920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3840480"/>
            <a:ext cx="6400800" cy="384048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4480560"/>
            <a:ext cx="5029200" cy="2926080"/>
          </a:xfrm>
          <a:prstGeom prst="ellipse">
            <a:avLst/>
          </a:prstGeom>
          <a:noFill/>
          <a:ln w="1524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731520"/>
            <a:ext cx="1109441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92656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600" b="1">
                <a:solidFill>
                  <a:srgbClr val="007A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