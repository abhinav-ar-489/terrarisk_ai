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1636" autoAdjust="0"/>
  </p:normalViewPr>
  <p:slideViewPr>
    <p:cSldViewPr snapToGrid="0" snapToObjects="1">
      <p:cViewPr varScale="1">
        <p:scale>
          <a:sx n="63" d="100"/>
          <a:sy n="63" d="100"/>
        </p:scale>
        <p:origin x="142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767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TITLE SLIDE</a:t>
            </a:r>
          </a:p>
          <a:p>
            <a:r>
              <a:t>• Project Title: TerraRisk AI</a:t>
            </a:r>
          </a:p>
          <a:p>
            <a:r>
              <a:t>• Candidate: MSc in Artificial Intelligence Defense</a:t>
            </a:r>
          </a:p>
          <a:p>
            <a:r>
              <a:t>• Introduction: Welcome committee members and examiners. Today I present TerraRisk AI, an intelligent geotechnical early warning and safe evacuation system designed to forecast landslide hazards and guide safe community evacuations in real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"Every monsoon season, mountain regions like Kerala’s Western Ghats suffer deadly slope failures triggered by extreme cloudbursts. In the 2024 Wayanad disaster, over 350 lives were lost in minutes because roads were cut off and no slope-level warning existed. </a:t>
            </a:r>
            <a:r>
              <a:rPr lang="en-IN" sz="1200" b="0" i="1" kern="1200" dirty="0" err="1">
                <a:solidFill>
                  <a:schemeClr val="tx1"/>
                </a:solidFill>
                <a:effectLst/>
                <a:latin typeface="+mn-lt"/>
                <a:ea typeface="+mn-ea"/>
                <a:cs typeface="+mn-cs"/>
              </a:rPr>
              <a:t>TerraRisk</a:t>
            </a:r>
            <a:r>
              <a:rPr lang="en-IN" sz="1200" b="0" i="1" kern="1200" dirty="0">
                <a:solidFill>
                  <a:schemeClr val="tx1"/>
                </a:solidFill>
                <a:effectLst/>
                <a:latin typeface="+mn-lt"/>
                <a:ea typeface="+mn-ea"/>
                <a:cs typeface="+mn-cs"/>
              </a:rPr>
              <a:t> AI transitions disaster management from reactive rescue to proactive AI prevention—pinpointing dangerous slopes hours before collapse."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"We identified three fatal flaws in current disaster workflows: First, official alerts are district-wide and ignore local slope angles. Second, emergency hotlines become overwhelmed by hundreds of unverified calls and online misinformation. Third, standard navigation apps blindly steer evacuees along the shortest path directly into active debris flows."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"Our primary aim was to create an end-to-end, real-time life-safety system. To achieve this, we formulated four specific technical objectives: train a physics-informed ML risk predictor, engineer a sub-second computer vision filter for citizen photos, automate spatial clustering to group crowd reports within 500 meters, and enforce dynamic 2-kilometer hazard avoidance routing."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"Prior literature relied either on static susceptibility maps that cannot respond to active storms, or simple empirical rainfall thresholds that trigger high false alarm rates. </a:t>
            </a:r>
            <a:r>
              <a:rPr lang="en-IN" sz="1200" b="0" i="1" kern="1200" dirty="0" err="1">
                <a:solidFill>
                  <a:schemeClr val="tx1"/>
                </a:solidFill>
                <a:effectLst/>
                <a:latin typeface="+mn-lt"/>
                <a:ea typeface="+mn-ea"/>
                <a:cs typeface="+mn-cs"/>
              </a:rPr>
              <a:t>TerraRisk</a:t>
            </a:r>
            <a:r>
              <a:rPr lang="en-IN" sz="1200" b="0" i="1" kern="1200" dirty="0">
                <a:solidFill>
                  <a:schemeClr val="tx1"/>
                </a:solidFill>
                <a:effectLst/>
                <a:latin typeface="+mn-lt"/>
                <a:ea typeface="+mn-ea"/>
                <a:cs typeface="+mn-cs"/>
              </a:rPr>
              <a:t> AI bridges this gap by unifying live 72-hour antecedent rainfall, 30m digital elevation data, rapid edge computer vision, and hazard-aware routing into a single closed-loop system."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"The platform functions as a streamlined 3-stage pipeline: Ingestion streams live 30-meter elevation and atmospheric telemetry; the AI Brain computes risk percentages and validates incoming citizen photos in milliseconds; and the Action Layer automatically calculates 2-kilometer detour routes while broadcasting free emergency alerts."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"Our risk methodology mirrors geotechnical physics: shear stress from slope steepness accounts for 42% of the model weight, 72-hour antecedent rainfall represents 38%, and ground saturation provides the remaining 20%. Crucially, we enforce a Flatland Safety Rule: low-lying terrain under 8 degrees is automatically suppressed, eliminating over 90% of false alarms in coastal areas."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"Architecturally, the system is designed for high-concurrency disaster conditions. Utilizing SQLite in Write-Ahead Logging mode and optimized microservice endpoints, the entire pipeline—from sensor ingestion and vision triage to route recalculation and Telegram dispatch—executes in under 900 milliseconds."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"We selected production-ready, open-source technologies: Python 3.11 with Scikit-Learn and </a:t>
            </a:r>
            <a:r>
              <a:rPr lang="en-IN" sz="1200" b="0" i="1" kern="1200" dirty="0" err="1">
                <a:solidFill>
                  <a:schemeClr val="tx1"/>
                </a:solidFill>
                <a:effectLst/>
                <a:latin typeface="+mn-lt"/>
                <a:ea typeface="+mn-ea"/>
                <a:cs typeface="+mn-cs"/>
              </a:rPr>
              <a:t>XGBoost</a:t>
            </a:r>
            <a:r>
              <a:rPr lang="en-IN" sz="1200" b="0" i="1" kern="1200" dirty="0">
                <a:solidFill>
                  <a:schemeClr val="tx1"/>
                </a:solidFill>
                <a:effectLst/>
                <a:latin typeface="+mn-lt"/>
                <a:ea typeface="+mn-ea"/>
                <a:cs typeface="+mn-cs"/>
              </a:rPr>
              <a:t> for AI; Flask and SQLite WAL for the backend; React 19 with Leaflet GIS for high-performance mapping; and OSRM coupled with OASIS CAP v1.2 and Telegram for emergency routing and alert broadcasting."</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"Compared to legacy portals and standard navigation apps, </a:t>
            </a:r>
            <a:r>
              <a:rPr lang="en-IN" sz="1200" b="0" i="1" kern="1200" dirty="0" err="1">
                <a:solidFill>
                  <a:schemeClr val="tx1"/>
                </a:solidFill>
                <a:effectLst/>
                <a:latin typeface="+mn-lt"/>
                <a:ea typeface="+mn-ea"/>
                <a:cs typeface="+mn-cs"/>
              </a:rPr>
              <a:t>TerraRisk</a:t>
            </a:r>
            <a:r>
              <a:rPr lang="en-IN" sz="1200" b="0" i="1" kern="1200" dirty="0">
                <a:solidFill>
                  <a:schemeClr val="tx1"/>
                </a:solidFill>
                <a:effectLst/>
                <a:latin typeface="+mn-lt"/>
                <a:ea typeface="+mn-ea"/>
                <a:cs typeface="+mn-cs"/>
              </a:rPr>
              <a:t> AI delivers 30-meter resolution instead of district-wide alerts, completes photo verification in under 600 milliseconds, and replaces static shelter lists with dynamic routing. Our core engineering trade-off is clear: we prioritize human survival over speed by forcing vehicles around active hazards."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sz="1200" b="0" i="1" kern="1200" dirty="0">
                <a:solidFill>
                  <a:schemeClr val="tx1"/>
                </a:solidFill>
                <a:effectLst/>
                <a:latin typeface="+mn-lt"/>
                <a:ea typeface="+mn-ea"/>
                <a:cs typeface="+mn-cs"/>
              </a:rPr>
              <a:t>"In conclusion, </a:t>
            </a:r>
            <a:r>
              <a:rPr lang="en-IN" sz="1200" b="0" i="1" kern="1200" dirty="0" err="1">
                <a:solidFill>
                  <a:schemeClr val="tx1"/>
                </a:solidFill>
                <a:effectLst/>
                <a:latin typeface="+mn-lt"/>
                <a:ea typeface="+mn-ea"/>
                <a:cs typeface="+mn-cs"/>
              </a:rPr>
              <a:t>TerraRisk</a:t>
            </a:r>
            <a:r>
              <a:rPr lang="en-IN" sz="1200" b="0" i="1" kern="1200" dirty="0">
                <a:solidFill>
                  <a:schemeClr val="tx1"/>
                </a:solidFill>
                <a:effectLst/>
                <a:latin typeface="+mn-lt"/>
                <a:ea typeface="+mn-ea"/>
                <a:cs typeface="+mn-cs"/>
              </a:rPr>
              <a:t> AI delivers both scientific and practical breakthroughs: academically, it demonstrates that physics-guided gradient boosting achieves 98.5% predictive accuracy while sub-second edge vision filters out 86% of false reports. Practically, it equips disaster authorities with zero-cost community alerting and automated evacuation routing that saves lives."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REFERENCES</a:t>
            </a:r>
          </a:p>
          <a:p>
            <a:r>
              <a:t>• Grounded in authoritative literature:</a:t>
            </a:r>
          </a:p>
          <a:p>
            <a:r>
              <a:t>  - Geological Survey of India 2024 Wayanad Disaster Report.</a:t>
            </a:r>
          </a:p>
          <a:p>
            <a:r>
              <a:t>  - Caine &amp; Guzzetti rainfall intensity thresholds.</a:t>
            </a:r>
          </a:p>
          <a:p>
            <a:r>
              <a:t>  - Machine learning foundations: XGBoost (Chen 2016) and Gradient Boosting (Friedman 2001).</a:t>
            </a:r>
          </a:p>
          <a:p>
            <a:r>
              <a:t>  - Open routing and emergency alert standards: OASIS CAP v1.2 and OSRM.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14: THANK YOU</a:t>
            </a:r>
          </a:p>
          <a:p>
            <a:r>
              <a:t>• Concluding slide: Thank the examination committee and faculty.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sdma.kerala.gov.in" TargetMode="External"/><Relationship Id="rId7" Type="http://schemas.openxmlformats.org/officeDocument/2006/relationships/hyperlink" Target="https://doi.org/10.1145/2939672.2939785"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doi.org/10.1214/aos/1013203451" TargetMode="External"/><Relationship Id="rId5" Type="http://schemas.openxmlformats.org/officeDocument/2006/relationships/hyperlink" Target="https://doi.org/10.1007/s10346-007-0112-1" TargetMode="External"/><Relationship Id="rId4" Type="http://schemas.openxmlformats.org/officeDocument/2006/relationships/hyperlink" Target="https://doi.org/10.1080/04353676.1980.11879996"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914400"/>
            <a:ext cx="8229600" cy="50292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457200"/>
            <a:ext cx="6858000" cy="41148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57200" y="0"/>
            <a:ext cx="5486400" cy="32004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0" y="3200400"/>
            <a:ext cx="7772400" cy="50292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858000" y="3840480"/>
            <a:ext cx="6400800" cy="384048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0" y="4480560"/>
            <a:ext cx="5029200" cy="292608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731520"/>
            <a:ext cx="11094415" cy="539496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63040" y="2194560"/>
            <a:ext cx="9265615" cy="2286000"/>
          </a:xfrm>
          <a:prstGeom prst="rect">
            <a:avLst/>
          </a:prstGeom>
          <a:noFill/>
        </p:spPr>
        <p:txBody>
          <a:bodyPr wrap="square" lIns="0" tIns="0" rIns="0" bIns="0">
            <a:spAutoFit/>
          </a:bodyPr>
          <a:lstStyle/>
          <a:p>
            <a:pPr algn="ctr">
              <a:defRPr sz="9600" b="1">
                <a:solidFill>
                  <a:srgbClr val="007AFF"/>
                </a:solidFill>
              </a:defRPr>
            </a:pPr>
            <a:r>
              <a:t>TerraRisk AI</a:t>
            </a:r>
          </a:p>
        </p:txBody>
      </p:sp>
      <p:sp>
        <p:nvSpPr>
          <p:cNvPr id="12" name="Rounded Rectangle 26">
            <a:extLst>
              <a:ext uri="{FF2B5EF4-FFF2-40B4-BE49-F238E27FC236}">
                <a16:creationId xmlns:a16="http://schemas.microsoft.com/office/drawing/2014/main" id="{F1580DD6-40B5-5F88-93F4-DC6AA96669BB}"/>
              </a:ext>
            </a:extLst>
          </p:cNvPr>
          <p:cNvSpPr/>
          <p:nvPr/>
        </p:nvSpPr>
        <p:spPr>
          <a:xfrm>
            <a:off x="7510272" y="4791668"/>
            <a:ext cx="3767022" cy="923331"/>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A24A6A7-2C02-06C6-AB42-62E0385184E6}"/>
              </a:ext>
            </a:extLst>
          </p:cNvPr>
          <p:cNvSpPr txBox="1"/>
          <p:nvPr/>
        </p:nvSpPr>
        <p:spPr>
          <a:xfrm>
            <a:off x="7735824" y="4897039"/>
            <a:ext cx="3864864" cy="923330"/>
          </a:xfrm>
          <a:prstGeom prst="rect">
            <a:avLst/>
          </a:prstGeom>
          <a:noFill/>
        </p:spPr>
        <p:txBody>
          <a:bodyPr wrap="square" rtlCol="0">
            <a:spAutoFit/>
          </a:bodyPr>
          <a:lstStyle/>
          <a:p>
            <a:r>
              <a:rPr lang="en-IN" dirty="0"/>
              <a:t>Presented by: Abhinav A R</a:t>
            </a:r>
          </a:p>
          <a:p>
            <a:r>
              <a:rPr lang="en-IN" dirty="0"/>
              <a:t>MSc AI</a:t>
            </a:r>
          </a:p>
          <a:p>
            <a:endParaRPr lang="en-IN"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BACKGROUND &amp; MOTIVATION</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Introduction: Why Landslide Prediction Needs AI</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68128" y="393192"/>
            <a:ext cx="1463040" cy="310896"/>
          </a:xfrm>
          <a:prstGeom prst="rect">
            <a:avLst/>
          </a:prstGeom>
          <a:noFill/>
        </p:spPr>
        <p:txBody>
          <a:bodyPr wrap="square" lIns="0" tIns="0" rIns="0" bIns="0">
            <a:spAutoFit/>
          </a:bodyPr>
          <a:lstStyle/>
          <a:p>
            <a:pPr algn="ctr">
              <a:defRPr sz="1300" b="1">
                <a:solidFill>
                  <a:srgbClr val="007AFF"/>
                </a:solidFill>
              </a:defRPr>
            </a:pPr>
            <a:r>
              <a:t>02 / 14</a:t>
            </a:r>
          </a:p>
        </p:txBody>
      </p:sp>
      <p:sp>
        <p:nvSpPr>
          <p:cNvPr id="9" name="Rounded Rectangle 8"/>
          <p:cNvSpPr/>
          <p:nvPr/>
        </p:nvSpPr>
        <p:spPr>
          <a:xfrm>
            <a:off x="548640" y="1188720"/>
            <a:ext cx="5440680" cy="5303520"/>
          </a:xfrm>
          <a:prstGeom prst="roundRect">
            <a:avLst/>
          </a:prstGeom>
          <a:solidFill>
            <a:srgbClr val="FFFFFF"/>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05256" y="1463040"/>
            <a:ext cx="4828032" cy="269304"/>
          </a:xfrm>
          <a:prstGeom prst="rect">
            <a:avLst/>
          </a:prstGeom>
          <a:noFill/>
        </p:spPr>
        <p:txBody>
          <a:bodyPr wrap="square" lIns="0" tIns="0" rIns="0" bIns="0">
            <a:spAutoFit/>
          </a:bodyPr>
          <a:lstStyle/>
          <a:p>
            <a:pPr>
              <a:defRPr sz="1750" b="1">
                <a:solidFill>
                  <a:srgbClr val="DC2626"/>
                </a:solidFill>
              </a:defRPr>
            </a:pPr>
            <a:r>
              <a:rPr dirty="0"/>
              <a:t>The Crisis in Mountain Regions</a:t>
            </a:r>
          </a:p>
        </p:txBody>
      </p:sp>
      <p:sp>
        <p:nvSpPr>
          <p:cNvPr id="11" name="Rounded Rectangle 10"/>
          <p:cNvSpPr/>
          <p:nvPr/>
        </p:nvSpPr>
        <p:spPr>
          <a:xfrm>
            <a:off x="4002329" y="144475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02329" y="1499616"/>
            <a:ext cx="1645920" cy="237744"/>
          </a:xfrm>
          <a:prstGeom prst="rect">
            <a:avLst/>
          </a:prstGeom>
          <a:noFill/>
        </p:spPr>
        <p:txBody>
          <a:bodyPr wrap="none" lIns="0" tIns="0" rIns="0" bIns="0">
            <a:spAutoFit/>
          </a:bodyPr>
          <a:lstStyle/>
          <a:p>
            <a:pPr algn="ctr">
              <a:defRPr sz="1100" b="1">
                <a:solidFill>
                  <a:srgbClr val="DC2626"/>
                </a:solidFill>
              </a:defRPr>
            </a:pPr>
            <a:r>
              <a:rPr dirty="0"/>
              <a:t>HIGH HAZARD</a:t>
            </a:r>
          </a:p>
        </p:txBody>
      </p:sp>
      <p:sp>
        <p:nvSpPr>
          <p:cNvPr id="13" name="TextBox 12"/>
          <p:cNvSpPr txBox="1"/>
          <p:nvPr/>
        </p:nvSpPr>
        <p:spPr>
          <a:xfrm>
            <a:off x="804672" y="1828800"/>
            <a:ext cx="4928616" cy="4480560"/>
          </a:xfrm>
          <a:prstGeom prst="rect">
            <a:avLst/>
          </a:prstGeom>
          <a:noFill/>
        </p:spPr>
        <p:txBody>
          <a:bodyPr wrap="square">
            <a:spAutoFit/>
          </a:bodyPr>
          <a:lstStyle/>
          <a:p>
            <a:pPr>
              <a:spcBef>
                <a:spcPts val="1800"/>
              </a:spcBef>
            </a:pPr>
            <a:r>
              <a:rPr sz="1400" b="1">
                <a:solidFill>
                  <a:srgbClr val="0F172A"/>
                </a:solidFill>
              </a:rPr>
              <a:t>• Steep Terrain &amp; Fragile Soil: </a:t>
            </a:r>
            <a:r>
              <a:rPr sz="1400" b="0">
                <a:solidFill>
                  <a:srgbClr val="334155"/>
                </a:solidFill>
              </a:rPr>
              <a:t>Mountain slopes steeper than 30° collapse rapidly during intense rainfall.</a:t>
            </a:r>
          </a:p>
          <a:p>
            <a:pPr>
              <a:spcBef>
                <a:spcPts val="1800"/>
              </a:spcBef>
            </a:pPr>
            <a:r>
              <a:rPr sz="1400" b="1">
                <a:solidFill>
                  <a:srgbClr val="0F172A"/>
                </a:solidFill>
              </a:rPr>
              <a:t>• Sudden Monsoon Cloudbursts: </a:t>
            </a:r>
            <a:r>
              <a:rPr sz="1400" b="0">
                <a:solidFill>
                  <a:srgbClr val="334155"/>
                </a:solidFill>
              </a:rPr>
              <a:t>Over 250 mm of rain can fall within 24 hours, saturating the ground.</a:t>
            </a:r>
          </a:p>
          <a:p>
            <a:pPr>
              <a:spcBef>
                <a:spcPts val="1800"/>
              </a:spcBef>
            </a:pPr>
            <a:r>
              <a:rPr sz="1400" b="1">
                <a:solidFill>
                  <a:srgbClr val="0F172A"/>
                </a:solidFill>
              </a:rPr>
              <a:t>• Trapped Communities: </a:t>
            </a:r>
            <a:r>
              <a:rPr sz="1400" b="0">
                <a:solidFill>
                  <a:srgbClr val="334155"/>
                </a:solidFill>
              </a:rPr>
              <a:t>When hillsides collapse, main roads get blocked and rescue vehicles cannot reach victims in time.</a:t>
            </a:r>
          </a:p>
          <a:p>
            <a:pPr>
              <a:spcBef>
                <a:spcPts val="1800"/>
              </a:spcBef>
            </a:pPr>
            <a:r>
              <a:rPr sz="1400" b="1">
                <a:solidFill>
                  <a:srgbClr val="0F172A"/>
                </a:solidFill>
              </a:rPr>
              <a:t>• The 2024 Wayanad Disaster: </a:t>
            </a:r>
            <a:r>
              <a:rPr sz="1400" b="0">
                <a:solidFill>
                  <a:srgbClr val="334155"/>
                </a:solidFill>
              </a:rPr>
              <a:t>Over 350 lives were lost in minutes because there was no slope-level early warning system.</a:t>
            </a:r>
          </a:p>
        </p:txBody>
      </p:sp>
      <p:sp>
        <p:nvSpPr>
          <p:cNvPr id="14" name="Rounded Rectangle 13"/>
          <p:cNvSpPr/>
          <p:nvPr/>
        </p:nvSpPr>
        <p:spPr>
          <a:xfrm>
            <a:off x="6199632" y="1188720"/>
            <a:ext cx="5440680" cy="53035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37960" y="1463040"/>
            <a:ext cx="4846320" cy="269304"/>
          </a:xfrm>
          <a:prstGeom prst="rect">
            <a:avLst/>
          </a:prstGeom>
          <a:noFill/>
        </p:spPr>
        <p:txBody>
          <a:bodyPr wrap="square" lIns="0" tIns="0" rIns="0" bIns="0">
            <a:spAutoFit/>
          </a:bodyPr>
          <a:lstStyle/>
          <a:p>
            <a:pPr>
              <a:defRPr sz="1750" b="1">
                <a:solidFill>
                  <a:srgbClr val="007AFF"/>
                </a:solidFill>
              </a:defRPr>
            </a:pPr>
            <a:r>
              <a:rPr dirty="0"/>
              <a:t>How AI Solves This Crisis</a:t>
            </a:r>
          </a:p>
        </p:txBody>
      </p:sp>
      <p:sp>
        <p:nvSpPr>
          <p:cNvPr id="16" name="Rounded Rectangle 15"/>
          <p:cNvSpPr/>
          <p:nvPr/>
        </p:nvSpPr>
        <p:spPr>
          <a:xfrm>
            <a:off x="9357055" y="144475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57055" y="1499616"/>
            <a:ext cx="1645920" cy="237744"/>
          </a:xfrm>
          <a:prstGeom prst="rect">
            <a:avLst/>
          </a:prstGeom>
          <a:noFill/>
        </p:spPr>
        <p:txBody>
          <a:bodyPr wrap="none" lIns="0" tIns="0" rIns="0" bIns="0">
            <a:spAutoFit/>
          </a:bodyPr>
          <a:lstStyle/>
          <a:p>
            <a:pPr algn="ctr">
              <a:defRPr sz="1100" b="1">
                <a:solidFill>
                  <a:srgbClr val="007AFF"/>
                </a:solidFill>
              </a:defRPr>
            </a:pPr>
            <a:r>
              <a:t>AI SOLUTION</a:t>
            </a:r>
          </a:p>
        </p:txBody>
      </p:sp>
      <p:sp>
        <p:nvSpPr>
          <p:cNvPr id="18" name="TextBox 17"/>
          <p:cNvSpPr txBox="1"/>
          <p:nvPr/>
        </p:nvSpPr>
        <p:spPr>
          <a:xfrm>
            <a:off x="6455664" y="1828800"/>
            <a:ext cx="4928616" cy="4480560"/>
          </a:xfrm>
          <a:prstGeom prst="rect">
            <a:avLst/>
          </a:prstGeom>
          <a:noFill/>
        </p:spPr>
        <p:txBody>
          <a:bodyPr wrap="square">
            <a:spAutoFit/>
          </a:bodyPr>
          <a:lstStyle/>
          <a:p>
            <a:pPr>
              <a:spcBef>
                <a:spcPts val="1800"/>
              </a:spcBef>
            </a:pPr>
            <a:r>
              <a:rPr sz="1400" b="1">
                <a:solidFill>
                  <a:srgbClr val="0F172A"/>
                </a:solidFill>
              </a:rPr>
              <a:t>• Predicts Ahead of Time: </a:t>
            </a:r>
            <a:r>
              <a:rPr sz="1400" b="0">
                <a:solidFill>
                  <a:srgbClr val="334155"/>
                </a:solidFill>
              </a:rPr>
              <a:t>Traditional systems only react after disaster strikes. AI forecasts danger hours in advance.</a:t>
            </a:r>
          </a:p>
          <a:p>
            <a:pPr>
              <a:spcBef>
                <a:spcPts val="1800"/>
              </a:spcBef>
            </a:pPr>
            <a:r>
              <a:rPr sz="1400" b="1">
                <a:solidFill>
                  <a:srgbClr val="0F172A"/>
                </a:solidFill>
              </a:rPr>
              <a:t>• Hyperlocal Accuracy (30m): </a:t>
            </a:r>
            <a:r>
              <a:rPr sz="1400" b="0">
                <a:solidFill>
                  <a:srgbClr val="334155"/>
                </a:solidFill>
              </a:rPr>
              <a:t>Instead of warning entire districts, AI pinpoints specific dangerous hillsides using 30-meter terrain data.</a:t>
            </a:r>
          </a:p>
          <a:p>
            <a:pPr>
              <a:spcBef>
                <a:spcPts val="1800"/>
              </a:spcBef>
            </a:pPr>
            <a:r>
              <a:rPr sz="1400" b="1">
                <a:solidFill>
                  <a:srgbClr val="0F172A"/>
                </a:solidFill>
              </a:rPr>
              <a:t>• Instant Photo Verification: </a:t>
            </a:r>
            <a:r>
              <a:rPr sz="1400" b="0">
                <a:solidFill>
                  <a:srgbClr val="334155"/>
                </a:solidFill>
              </a:rPr>
              <a:t>Computer vision scans citizen photos in seconds to filter out spam and confirm real cracks.</a:t>
            </a:r>
          </a:p>
          <a:p>
            <a:pPr>
              <a:spcBef>
                <a:spcPts val="1800"/>
              </a:spcBef>
            </a:pPr>
            <a:r>
              <a:rPr sz="1400" b="1">
                <a:solidFill>
                  <a:srgbClr val="0F172A"/>
                </a:solidFill>
              </a:rPr>
              <a:t>• Guaranteed Safe Routes: </a:t>
            </a:r>
            <a:r>
              <a:rPr sz="1400" b="0">
                <a:solidFill>
                  <a:srgbClr val="334155"/>
                </a:solidFill>
              </a:rPr>
              <a:t>Navigation directs evacuees around active danger spots directly to shelters with available beds.</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RESEARCH CHALLENGES</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Problem Statement: 3 Fatal Flaws in Existing Systems</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384048"/>
            <a:ext cx="1463040" cy="310896"/>
          </a:xfrm>
          <a:prstGeom prst="rect">
            <a:avLst/>
          </a:prstGeom>
          <a:noFill/>
        </p:spPr>
        <p:txBody>
          <a:bodyPr wrap="square" lIns="0" tIns="0" rIns="0" bIns="0">
            <a:spAutoFit/>
          </a:bodyPr>
          <a:lstStyle/>
          <a:p>
            <a:pPr algn="ctr">
              <a:defRPr sz="1300" b="1">
                <a:solidFill>
                  <a:srgbClr val="007AFF"/>
                </a:solidFill>
              </a:defRPr>
            </a:pPr>
            <a:r>
              <a:rPr dirty="0"/>
              <a:t>03 / 14</a:t>
            </a:r>
          </a:p>
        </p:txBody>
      </p:sp>
      <p:sp>
        <p:nvSpPr>
          <p:cNvPr id="9" name="Rounded Rectangle 8"/>
          <p:cNvSpPr/>
          <p:nvPr/>
        </p:nvSpPr>
        <p:spPr>
          <a:xfrm>
            <a:off x="548640" y="1188720"/>
            <a:ext cx="3566160" cy="5303520"/>
          </a:xfrm>
          <a:prstGeom prst="roundRect">
            <a:avLst/>
          </a:prstGeom>
          <a:solidFill>
            <a:srgbClr val="FEF2F2"/>
          </a:solidFill>
          <a:ln w="1524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3054096" cy="411480"/>
          </a:xfrm>
          <a:prstGeom prst="rect">
            <a:avLst/>
          </a:prstGeom>
          <a:noFill/>
        </p:spPr>
        <p:txBody>
          <a:bodyPr wrap="square" lIns="0" tIns="0" rIns="0" bIns="0">
            <a:spAutoFit/>
          </a:bodyPr>
          <a:lstStyle/>
          <a:p>
            <a:pPr>
              <a:defRPr sz="1750" b="1">
                <a:solidFill>
                  <a:srgbClr val="DC2626"/>
                </a:solidFill>
              </a:defRPr>
            </a:pPr>
            <a:r>
              <a:t>1. Broad &amp; Blind Alerts</a:t>
            </a:r>
          </a:p>
        </p:txBody>
      </p:sp>
      <p:sp>
        <p:nvSpPr>
          <p:cNvPr id="11" name="Rounded Rectangle 10"/>
          <p:cNvSpPr/>
          <p:nvPr/>
        </p:nvSpPr>
        <p:spPr>
          <a:xfrm>
            <a:off x="2717597" y="1627632"/>
            <a:ext cx="1298448" cy="228600"/>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17013" y="1666325"/>
            <a:ext cx="1453896" cy="169277"/>
          </a:xfrm>
          <a:prstGeom prst="rect">
            <a:avLst/>
          </a:prstGeom>
          <a:noFill/>
        </p:spPr>
        <p:txBody>
          <a:bodyPr wrap="square" lIns="0" tIns="0" rIns="0" bIns="0">
            <a:spAutoFit/>
          </a:bodyPr>
          <a:lstStyle/>
          <a:p>
            <a:pPr algn="ctr">
              <a:defRPr sz="1100" b="1">
                <a:solidFill>
                  <a:srgbClr val="DC2626"/>
                </a:solidFill>
              </a:defRPr>
            </a:pPr>
            <a:r>
              <a:rPr dirty="0"/>
              <a:t>NO PRECISION</a:t>
            </a:r>
          </a:p>
        </p:txBody>
      </p:sp>
      <p:sp>
        <p:nvSpPr>
          <p:cNvPr id="13" name="TextBox 12"/>
          <p:cNvSpPr txBox="1"/>
          <p:nvPr/>
        </p:nvSpPr>
        <p:spPr>
          <a:xfrm>
            <a:off x="772668" y="1965960"/>
            <a:ext cx="3163824" cy="4480560"/>
          </a:xfrm>
          <a:prstGeom prst="rect">
            <a:avLst/>
          </a:prstGeom>
          <a:noFill/>
        </p:spPr>
        <p:txBody>
          <a:bodyPr wrap="square">
            <a:spAutoFit/>
          </a:bodyPr>
          <a:lstStyle/>
          <a:p>
            <a:pPr>
              <a:spcBef>
                <a:spcPts val="1800"/>
              </a:spcBef>
            </a:pPr>
            <a:r>
              <a:rPr sz="1350" b="1" dirty="0">
                <a:solidFill>
                  <a:srgbClr val="0F172A"/>
                </a:solidFill>
              </a:rPr>
              <a:t>• District-Wide Warnings: </a:t>
            </a:r>
            <a:r>
              <a:rPr sz="1350" b="0" dirty="0">
                <a:solidFill>
                  <a:srgbClr val="334155"/>
                </a:solidFill>
              </a:rPr>
              <a:t>Alerts cover 1,000+ km² at once, causing widespread panic while missing exact danger spots.</a:t>
            </a:r>
          </a:p>
          <a:p>
            <a:pPr>
              <a:spcBef>
                <a:spcPts val="1800"/>
              </a:spcBef>
            </a:pPr>
            <a:r>
              <a:rPr sz="1350" b="1" dirty="0">
                <a:solidFill>
                  <a:srgbClr val="0F172A"/>
                </a:solidFill>
              </a:rPr>
              <a:t>• Slope Angles Ignored: </a:t>
            </a:r>
            <a:r>
              <a:rPr sz="1350" b="0" dirty="0">
                <a:solidFill>
                  <a:srgbClr val="334155"/>
                </a:solidFill>
              </a:rPr>
              <a:t>A steep 35° slope can collapse while a flat valley is safe, yet both receive the same alert.</a:t>
            </a:r>
          </a:p>
          <a:p>
            <a:pPr>
              <a:spcBef>
                <a:spcPts val="1800"/>
              </a:spcBef>
            </a:pPr>
            <a:r>
              <a:rPr sz="1350" b="1" dirty="0">
                <a:solidFill>
                  <a:srgbClr val="0F172A"/>
                </a:solidFill>
              </a:rPr>
              <a:t>• Missing 3-Day History: </a:t>
            </a:r>
            <a:r>
              <a:rPr sz="1350" b="0" dirty="0">
                <a:solidFill>
                  <a:srgbClr val="334155"/>
                </a:solidFill>
              </a:rPr>
              <a:t>Current systems only check today's rain, ignoring the 72-hour water buildup that triggers mudflows.</a:t>
            </a:r>
          </a:p>
        </p:txBody>
      </p:sp>
      <p:sp>
        <p:nvSpPr>
          <p:cNvPr id="14" name="Rounded Rectangle 13"/>
          <p:cNvSpPr/>
          <p:nvPr/>
        </p:nvSpPr>
        <p:spPr>
          <a:xfrm>
            <a:off x="4311396" y="1188720"/>
            <a:ext cx="3566160" cy="5303520"/>
          </a:xfrm>
          <a:prstGeom prst="roundRect">
            <a:avLst/>
          </a:prstGeom>
          <a:solidFill>
            <a:srgbClr val="FFFBEB"/>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7428" y="1371600"/>
            <a:ext cx="3054096" cy="411480"/>
          </a:xfrm>
          <a:prstGeom prst="rect">
            <a:avLst/>
          </a:prstGeom>
          <a:noFill/>
        </p:spPr>
        <p:txBody>
          <a:bodyPr wrap="square" lIns="0" tIns="0" rIns="0" bIns="0">
            <a:spAutoFit/>
          </a:bodyPr>
          <a:lstStyle/>
          <a:p>
            <a:pPr>
              <a:defRPr sz="1750" b="1">
                <a:solidFill>
                  <a:srgbClr val="D97706"/>
                </a:solidFill>
              </a:defRPr>
            </a:pPr>
            <a:r>
              <a:t>2. Citizen Report Overload</a:t>
            </a:r>
          </a:p>
        </p:txBody>
      </p:sp>
      <p:sp>
        <p:nvSpPr>
          <p:cNvPr id="16" name="Rounded Rectangle 15"/>
          <p:cNvSpPr/>
          <p:nvPr/>
        </p:nvSpPr>
        <p:spPr>
          <a:xfrm>
            <a:off x="6094476" y="167335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05449" y="1709928"/>
            <a:ext cx="1645920" cy="237744"/>
          </a:xfrm>
          <a:prstGeom prst="rect">
            <a:avLst/>
          </a:prstGeom>
          <a:noFill/>
        </p:spPr>
        <p:txBody>
          <a:bodyPr wrap="none" lIns="0" tIns="0" rIns="0" bIns="0">
            <a:spAutoFit/>
          </a:bodyPr>
          <a:lstStyle/>
          <a:p>
            <a:pPr algn="ctr">
              <a:defRPr sz="1100" b="1">
                <a:solidFill>
                  <a:srgbClr val="D97706"/>
                </a:solidFill>
              </a:defRPr>
            </a:pPr>
            <a:r>
              <a:rPr dirty="0"/>
              <a:t>BOTTLENECK</a:t>
            </a:r>
          </a:p>
        </p:txBody>
      </p:sp>
      <p:sp>
        <p:nvSpPr>
          <p:cNvPr id="18" name="TextBox 17"/>
          <p:cNvSpPr txBox="1"/>
          <p:nvPr/>
        </p:nvSpPr>
        <p:spPr>
          <a:xfrm>
            <a:off x="4512564" y="2093976"/>
            <a:ext cx="3163824" cy="4480560"/>
          </a:xfrm>
          <a:prstGeom prst="rect">
            <a:avLst/>
          </a:prstGeom>
          <a:noFill/>
        </p:spPr>
        <p:txBody>
          <a:bodyPr wrap="square">
            <a:spAutoFit/>
          </a:bodyPr>
          <a:lstStyle/>
          <a:p>
            <a:pPr>
              <a:spcBef>
                <a:spcPts val="1800"/>
              </a:spcBef>
            </a:pPr>
            <a:r>
              <a:rPr sz="1350" b="1" dirty="0">
                <a:solidFill>
                  <a:srgbClr val="0F172A"/>
                </a:solidFill>
              </a:rPr>
              <a:t>• Overwhelmed Control Rooms: </a:t>
            </a:r>
            <a:r>
              <a:rPr sz="1350" b="0" dirty="0">
                <a:solidFill>
                  <a:srgbClr val="334155"/>
                </a:solidFill>
              </a:rPr>
              <a:t>Disaster phone lines get jammed with hundreds of duplicate emergency calls during storms.</a:t>
            </a:r>
          </a:p>
          <a:p>
            <a:pPr>
              <a:spcBef>
                <a:spcPts val="1800"/>
              </a:spcBef>
            </a:pPr>
            <a:r>
              <a:rPr sz="1350" b="1" dirty="0">
                <a:solidFill>
                  <a:srgbClr val="0F172A"/>
                </a:solidFill>
              </a:rPr>
              <a:t>• Fake News &amp; Memes: </a:t>
            </a:r>
            <a:r>
              <a:rPr sz="1350" b="0" dirty="0">
                <a:solidFill>
                  <a:srgbClr val="334155"/>
                </a:solidFill>
              </a:rPr>
              <a:t>Social media spreads recycled disaster videos and false panic reports that distract rescue teams.</a:t>
            </a:r>
          </a:p>
          <a:p>
            <a:pPr>
              <a:spcBef>
                <a:spcPts val="1800"/>
              </a:spcBef>
            </a:pPr>
            <a:r>
              <a:rPr sz="1350" b="1" dirty="0">
                <a:solidFill>
                  <a:srgbClr val="0F172A"/>
                </a:solidFill>
              </a:rPr>
              <a:t>• No Automated Check: </a:t>
            </a:r>
            <a:r>
              <a:rPr sz="1350" b="0" dirty="0">
                <a:solidFill>
                  <a:srgbClr val="334155"/>
                </a:solidFill>
              </a:rPr>
              <a:t>Emergency teams have no fast way to verify whether citizen photos show genuine mud cracks.</a:t>
            </a:r>
          </a:p>
        </p:txBody>
      </p:sp>
      <p:sp>
        <p:nvSpPr>
          <p:cNvPr id="19" name="Rounded Rectangle 18"/>
          <p:cNvSpPr/>
          <p:nvPr/>
        </p:nvSpPr>
        <p:spPr>
          <a:xfrm>
            <a:off x="8074152" y="1188720"/>
            <a:ext cx="3566160" cy="53035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30184" y="1371600"/>
            <a:ext cx="3054096" cy="411480"/>
          </a:xfrm>
          <a:prstGeom prst="rect">
            <a:avLst/>
          </a:prstGeom>
          <a:noFill/>
        </p:spPr>
        <p:txBody>
          <a:bodyPr wrap="square" lIns="0" tIns="0" rIns="0" bIns="0">
            <a:spAutoFit/>
          </a:bodyPr>
          <a:lstStyle/>
          <a:p>
            <a:pPr>
              <a:defRPr sz="1750" b="1">
                <a:solidFill>
                  <a:srgbClr val="007AFF"/>
                </a:solidFill>
              </a:defRPr>
            </a:pPr>
            <a:r>
              <a:t>3. Dangerous GPS Routing</a:t>
            </a:r>
          </a:p>
        </p:txBody>
      </p:sp>
      <p:sp>
        <p:nvSpPr>
          <p:cNvPr id="21" name="Rounded Rectangle 20"/>
          <p:cNvSpPr/>
          <p:nvPr/>
        </p:nvSpPr>
        <p:spPr>
          <a:xfrm>
            <a:off x="9850831" y="1709928"/>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57232" y="1801368"/>
            <a:ext cx="1645920" cy="237744"/>
          </a:xfrm>
          <a:prstGeom prst="rect">
            <a:avLst/>
          </a:prstGeom>
          <a:noFill/>
        </p:spPr>
        <p:txBody>
          <a:bodyPr wrap="none" lIns="0" tIns="0" rIns="0" bIns="0">
            <a:spAutoFit/>
          </a:bodyPr>
          <a:lstStyle/>
          <a:p>
            <a:pPr algn="ctr">
              <a:defRPr sz="1100" b="1">
                <a:solidFill>
                  <a:srgbClr val="007AFF"/>
                </a:solidFill>
              </a:defRPr>
            </a:pPr>
            <a:r>
              <a:rPr dirty="0"/>
              <a:t>BLIND ROUTING</a:t>
            </a:r>
          </a:p>
        </p:txBody>
      </p:sp>
      <p:sp>
        <p:nvSpPr>
          <p:cNvPr id="23" name="TextBox 22"/>
          <p:cNvSpPr txBox="1"/>
          <p:nvPr/>
        </p:nvSpPr>
        <p:spPr>
          <a:xfrm>
            <a:off x="8275320" y="2125980"/>
            <a:ext cx="3163824" cy="4480560"/>
          </a:xfrm>
          <a:prstGeom prst="rect">
            <a:avLst/>
          </a:prstGeom>
          <a:noFill/>
        </p:spPr>
        <p:txBody>
          <a:bodyPr wrap="square">
            <a:spAutoFit/>
          </a:bodyPr>
          <a:lstStyle/>
          <a:p>
            <a:pPr>
              <a:spcBef>
                <a:spcPts val="1800"/>
              </a:spcBef>
            </a:pPr>
            <a:r>
              <a:rPr sz="1350" b="1" dirty="0">
                <a:solidFill>
                  <a:srgbClr val="0F172A"/>
                </a:solidFill>
              </a:rPr>
              <a:t>• Blind Route Engines: </a:t>
            </a:r>
            <a:r>
              <a:rPr sz="1350" b="0" dirty="0">
                <a:solidFill>
                  <a:srgbClr val="334155"/>
                </a:solidFill>
              </a:rPr>
              <a:t>Standard apps like Google Maps guide evacuees along the shortest path, right into active landslides.</a:t>
            </a:r>
          </a:p>
          <a:p>
            <a:pPr>
              <a:spcBef>
                <a:spcPts val="1800"/>
              </a:spcBef>
            </a:pPr>
            <a:r>
              <a:rPr sz="1350" b="1" dirty="0">
                <a:solidFill>
                  <a:srgbClr val="0F172A"/>
                </a:solidFill>
              </a:rPr>
              <a:t>• Overcrowded Shelters: </a:t>
            </a:r>
            <a:r>
              <a:rPr sz="1350" b="0" dirty="0">
                <a:solidFill>
                  <a:srgbClr val="334155"/>
                </a:solidFill>
              </a:rPr>
              <a:t>Fleeing families arrive at shelters that are already 100% full, forcing dangerous secondary travel.</a:t>
            </a:r>
          </a:p>
          <a:p>
            <a:pPr>
              <a:spcBef>
                <a:spcPts val="1800"/>
              </a:spcBef>
            </a:pPr>
            <a:r>
              <a:rPr sz="1350" b="1" dirty="0">
                <a:solidFill>
                  <a:srgbClr val="0F172A"/>
                </a:solidFill>
              </a:rPr>
              <a:t>• Expensive SMS Costs: </a:t>
            </a:r>
            <a:r>
              <a:rPr sz="1350" b="0" dirty="0">
                <a:solidFill>
                  <a:srgbClr val="334155"/>
                </a:solidFill>
              </a:rPr>
              <a:t>Sending commercial SMS alerts to millions strains government emergency budgets.</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PROJECT SCOPE</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Aim &amp; Objectives: What We Built</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80015" y="411480"/>
            <a:ext cx="1463040" cy="310896"/>
          </a:xfrm>
          <a:prstGeom prst="rect">
            <a:avLst/>
          </a:prstGeom>
          <a:noFill/>
        </p:spPr>
        <p:txBody>
          <a:bodyPr wrap="square" lIns="0" tIns="0" rIns="0" bIns="0">
            <a:spAutoFit/>
          </a:bodyPr>
          <a:lstStyle/>
          <a:p>
            <a:pPr algn="ctr">
              <a:defRPr sz="1300" b="1">
                <a:solidFill>
                  <a:srgbClr val="007AFF"/>
                </a:solidFill>
              </a:defRPr>
            </a:pPr>
            <a:r>
              <a:rPr dirty="0"/>
              <a:t>04 / 14</a:t>
            </a:r>
          </a:p>
        </p:txBody>
      </p:sp>
      <p:sp>
        <p:nvSpPr>
          <p:cNvPr id="9" name="Rounded Rectangle 8"/>
          <p:cNvSpPr/>
          <p:nvPr/>
        </p:nvSpPr>
        <p:spPr>
          <a:xfrm>
            <a:off x="548640" y="1188720"/>
            <a:ext cx="11094415" cy="105156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10582351" cy="411480"/>
          </a:xfrm>
          <a:prstGeom prst="rect">
            <a:avLst/>
          </a:prstGeom>
          <a:noFill/>
        </p:spPr>
        <p:txBody>
          <a:bodyPr wrap="square" lIns="0" tIns="0" rIns="0" bIns="0">
            <a:spAutoFit/>
          </a:bodyPr>
          <a:lstStyle/>
          <a:p>
            <a:pPr>
              <a:defRPr sz="1750" b="1">
                <a:solidFill>
                  <a:srgbClr val="007AFF"/>
                </a:solidFill>
              </a:defRPr>
            </a:pPr>
            <a:r>
              <a:t>PRIMARY RESEARCH AIM</a:t>
            </a:r>
          </a:p>
        </p:txBody>
      </p:sp>
      <p:sp>
        <p:nvSpPr>
          <p:cNvPr id="11" name="TextBox 10"/>
          <p:cNvSpPr txBox="1"/>
          <p:nvPr/>
        </p:nvSpPr>
        <p:spPr>
          <a:xfrm>
            <a:off x="698144" y="1618488"/>
            <a:ext cx="10582351" cy="621792"/>
          </a:xfrm>
          <a:prstGeom prst="rect">
            <a:avLst/>
          </a:prstGeom>
          <a:noFill/>
        </p:spPr>
        <p:txBody>
          <a:bodyPr wrap="square">
            <a:spAutoFit/>
          </a:bodyPr>
          <a:lstStyle/>
          <a:p>
            <a:pPr>
              <a:defRPr sz="1550" b="1">
                <a:solidFill>
                  <a:srgbClr val="0F172A"/>
                </a:solidFill>
              </a:defRPr>
            </a:pPr>
            <a:r>
              <a:rPr dirty="0"/>
              <a:t>To build a smart, real-time AI platform that predicts landslides with 30-meter precision, verifies photos in seconds, and guides evacuees along guaranteed safe routes.</a:t>
            </a:r>
          </a:p>
        </p:txBody>
      </p:sp>
      <p:sp>
        <p:nvSpPr>
          <p:cNvPr id="12" name="Rounded Rectangle 11"/>
          <p:cNvSpPr/>
          <p:nvPr/>
        </p:nvSpPr>
        <p:spPr>
          <a:xfrm>
            <a:off x="548640" y="2423160"/>
            <a:ext cx="5440680" cy="19659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606040"/>
            <a:ext cx="4928616" cy="411480"/>
          </a:xfrm>
          <a:prstGeom prst="rect">
            <a:avLst/>
          </a:prstGeom>
          <a:noFill/>
        </p:spPr>
        <p:txBody>
          <a:bodyPr wrap="square" lIns="0" tIns="0" rIns="0" bIns="0">
            <a:spAutoFit/>
          </a:bodyPr>
          <a:lstStyle/>
          <a:p>
            <a:pPr>
              <a:defRPr sz="1750" b="1">
                <a:solidFill>
                  <a:srgbClr val="007AFF"/>
                </a:solidFill>
              </a:defRPr>
            </a:pPr>
            <a:r>
              <a:t>Objective 1: Landslide Risk AI</a:t>
            </a:r>
          </a:p>
        </p:txBody>
      </p:sp>
      <p:sp>
        <p:nvSpPr>
          <p:cNvPr id="14" name="Rounded Rectangle 13"/>
          <p:cNvSpPr/>
          <p:nvPr/>
        </p:nvSpPr>
        <p:spPr>
          <a:xfrm>
            <a:off x="4123944" y="258775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87368" y="2624328"/>
            <a:ext cx="1645920" cy="237744"/>
          </a:xfrm>
          <a:prstGeom prst="rect">
            <a:avLst/>
          </a:prstGeom>
          <a:noFill/>
        </p:spPr>
        <p:txBody>
          <a:bodyPr wrap="none" lIns="0" tIns="0" rIns="0" bIns="0">
            <a:spAutoFit/>
          </a:bodyPr>
          <a:lstStyle/>
          <a:p>
            <a:pPr algn="ctr">
              <a:defRPr sz="1100" b="1">
                <a:solidFill>
                  <a:srgbClr val="007AFF"/>
                </a:solidFill>
              </a:defRPr>
            </a:pPr>
            <a:r>
              <a:rPr dirty="0"/>
              <a:t>ML PREDICTION</a:t>
            </a:r>
          </a:p>
        </p:txBody>
      </p:sp>
      <p:sp>
        <p:nvSpPr>
          <p:cNvPr id="16" name="TextBox 15"/>
          <p:cNvSpPr txBox="1"/>
          <p:nvPr/>
        </p:nvSpPr>
        <p:spPr>
          <a:xfrm>
            <a:off x="804672" y="2953512"/>
            <a:ext cx="4928616" cy="1344168"/>
          </a:xfrm>
          <a:prstGeom prst="rect">
            <a:avLst/>
          </a:prstGeom>
          <a:noFill/>
        </p:spPr>
        <p:txBody>
          <a:bodyPr wrap="square">
            <a:spAutoFit/>
          </a:bodyPr>
          <a:lstStyle/>
          <a:p>
            <a:pPr>
              <a:defRPr sz="1350">
                <a:solidFill>
                  <a:srgbClr val="334155"/>
                </a:solidFill>
              </a:defRPr>
            </a:pPr>
            <a:r>
              <a:t>Train machine learning models (Gradient Boosting &amp; XGBoost) on slope angle, elevation, soil type, and 3-day rainfall to output a clear 0–100% risk score.</a:t>
            </a:r>
          </a:p>
        </p:txBody>
      </p:sp>
      <p:sp>
        <p:nvSpPr>
          <p:cNvPr id="17" name="Rounded Rectangle 16"/>
          <p:cNvSpPr/>
          <p:nvPr/>
        </p:nvSpPr>
        <p:spPr>
          <a:xfrm>
            <a:off x="6199632" y="2423160"/>
            <a:ext cx="5440680" cy="196596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55664" y="2606040"/>
            <a:ext cx="4928616" cy="411480"/>
          </a:xfrm>
          <a:prstGeom prst="rect">
            <a:avLst/>
          </a:prstGeom>
          <a:noFill/>
        </p:spPr>
        <p:txBody>
          <a:bodyPr wrap="square" lIns="0" tIns="0" rIns="0" bIns="0">
            <a:spAutoFit/>
          </a:bodyPr>
          <a:lstStyle/>
          <a:p>
            <a:pPr>
              <a:defRPr sz="1750" b="1">
                <a:solidFill>
                  <a:srgbClr val="D97706"/>
                </a:solidFill>
              </a:defRPr>
            </a:pPr>
            <a:r>
              <a:t>Objective 2: Sub-Second Photo Check</a:t>
            </a:r>
          </a:p>
        </p:txBody>
      </p:sp>
      <p:sp>
        <p:nvSpPr>
          <p:cNvPr id="19" name="Rounded Rectangle 18"/>
          <p:cNvSpPr/>
          <p:nvPr/>
        </p:nvSpPr>
        <p:spPr>
          <a:xfrm>
            <a:off x="9827971" y="2889504"/>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0" name="TextBox 19"/>
          <p:cNvSpPr txBox="1"/>
          <p:nvPr/>
        </p:nvSpPr>
        <p:spPr>
          <a:xfrm>
            <a:off x="9756648" y="2971800"/>
            <a:ext cx="1645920" cy="237744"/>
          </a:xfrm>
          <a:prstGeom prst="rect">
            <a:avLst/>
          </a:prstGeom>
          <a:noFill/>
        </p:spPr>
        <p:txBody>
          <a:bodyPr wrap="none" lIns="0" tIns="0" rIns="0" bIns="0">
            <a:spAutoFit/>
          </a:bodyPr>
          <a:lstStyle/>
          <a:p>
            <a:pPr algn="ctr">
              <a:defRPr sz="1100" b="1">
                <a:solidFill>
                  <a:srgbClr val="D97706"/>
                </a:solidFill>
              </a:defRPr>
            </a:pPr>
            <a:r>
              <a:rPr dirty="0"/>
              <a:t>VISION TRIAGE</a:t>
            </a:r>
          </a:p>
        </p:txBody>
      </p:sp>
      <p:sp>
        <p:nvSpPr>
          <p:cNvPr id="21" name="TextBox 20"/>
          <p:cNvSpPr txBox="1"/>
          <p:nvPr/>
        </p:nvSpPr>
        <p:spPr>
          <a:xfrm>
            <a:off x="6458407" y="3182112"/>
            <a:ext cx="4928616" cy="1344168"/>
          </a:xfrm>
          <a:prstGeom prst="rect">
            <a:avLst/>
          </a:prstGeom>
          <a:noFill/>
        </p:spPr>
        <p:txBody>
          <a:bodyPr wrap="square">
            <a:spAutoFit/>
          </a:bodyPr>
          <a:lstStyle/>
          <a:p>
            <a:pPr>
              <a:defRPr sz="1350">
                <a:solidFill>
                  <a:srgbClr val="334155"/>
                </a:solidFill>
              </a:defRPr>
            </a:pPr>
            <a:r>
              <a:rPr dirty="0"/>
              <a:t>Build a 3-tier computer vision filter to verify citizen hazard photos in under 600ms, immediately discarding spam, memes, and fake reports.</a:t>
            </a:r>
          </a:p>
        </p:txBody>
      </p:sp>
      <p:sp>
        <p:nvSpPr>
          <p:cNvPr id="22" name="Rounded Rectangle 21"/>
          <p:cNvSpPr/>
          <p:nvPr/>
        </p:nvSpPr>
        <p:spPr>
          <a:xfrm>
            <a:off x="548640" y="4526280"/>
            <a:ext cx="5440680" cy="196596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4709160"/>
            <a:ext cx="4928616" cy="411480"/>
          </a:xfrm>
          <a:prstGeom prst="rect">
            <a:avLst/>
          </a:prstGeom>
          <a:noFill/>
        </p:spPr>
        <p:txBody>
          <a:bodyPr wrap="square" lIns="0" tIns="0" rIns="0" bIns="0">
            <a:spAutoFit/>
          </a:bodyPr>
          <a:lstStyle/>
          <a:p>
            <a:pPr>
              <a:defRPr sz="1750" b="1">
                <a:solidFill>
                  <a:srgbClr val="007AFF"/>
                </a:solidFill>
              </a:defRPr>
            </a:pPr>
            <a:r>
              <a:t>Objective 3: Smart Report Grouping</a:t>
            </a:r>
          </a:p>
        </p:txBody>
      </p:sp>
      <p:sp>
        <p:nvSpPr>
          <p:cNvPr id="24" name="Rounded Rectangle 23"/>
          <p:cNvSpPr/>
          <p:nvPr/>
        </p:nvSpPr>
        <p:spPr>
          <a:xfrm>
            <a:off x="4002329" y="4983480"/>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02329" y="5042916"/>
            <a:ext cx="1645920" cy="237744"/>
          </a:xfrm>
          <a:prstGeom prst="rect">
            <a:avLst/>
          </a:prstGeom>
          <a:noFill/>
        </p:spPr>
        <p:txBody>
          <a:bodyPr wrap="none" lIns="0" tIns="0" rIns="0" bIns="0">
            <a:spAutoFit/>
          </a:bodyPr>
          <a:lstStyle/>
          <a:p>
            <a:pPr algn="ctr">
              <a:defRPr sz="1100" b="1">
                <a:solidFill>
                  <a:srgbClr val="007AFF"/>
                </a:solidFill>
              </a:defRPr>
            </a:pPr>
            <a:r>
              <a:rPr dirty="0"/>
              <a:t>SPATIAL CLUSTERING</a:t>
            </a:r>
          </a:p>
        </p:txBody>
      </p:sp>
      <p:sp>
        <p:nvSpPr>
          <p:cNvPr id="26" name="TextBox 25"/>
          <p:cNvSpPr txBox="1"/>
          <p:nvPr/>
        </p:nvSpPr>
        <p:spPr>
          <a:xfrm>
            <a:off x="818388" y="5303520"/>
            <a:ext cx="4928616" cy="1344168"/>
          </a:xfrm>
          <a:prstGeom prst="rect">
            <a:avLst/>
          </a:prstGeom>
          <a:noFill/>
        </p:spPr>
        <p:txBody>
          <a:bodyPr wrap="square">
            <a:spAutoFit/>
          </a:bodyPr>
          <a:lstStyle/>
          <a:p>
            <a:pPr>
              <a:defRPr sz="1350">
                <a:solidFill>
                  <a:srgbClr val="334155"/>
                </a:solidFill>
              </a:defRPr>
            </a:pPr>
            <a:r>
              <a:rPr dirty="0"/>
              <a:t>Automatically group nearby citizen reports within 500 meters to eliminate duplicate rescue dispatches and auto-verify high-confidence hazards.</a:t>
            </a:r>
          </a:p>
        </p:txBody>
      </p:sp>
      <p:sp>
        <p:nvSpPr>
          <p:cNvPr id="27" name="Rounded Rectangle 26"/>
          <p:cNvSpPr/>
          <p:nvPr/>
        </p:nvSpPr>
        <p:spPr>
          <a:xfrm>
            <a:off x="6199632" y="4526280"/>
            <a:ext cx="5440680" cy="196596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55664" y="4709160"/>
            <a:ext cx="4928616" cy="411480"/>
          </a:xfrm>
          <a:prstGeom prst="rect">
            <a:avLst/>
          </a:prstGeom>
          <a:noFill/>
        </p:spPr>
        <p:txBody>
          <a:bodyPr wrap="square" lIns="0" tIns="0" rIns="0" bIns="0">
            <a:spAutoFit/>
          </a:bodyPr>
          <a:lstStyle/>
          <a:p>
            <a:pPr>
              <a:defRPr sz="1750" b="1">
                <a:solidFill>
                  <a:srgbClr val="10B981"/>
                </a:solidFill>
              </a:defRPr>
            </a:pPr>
            <a:r>
              <a:t>Objective 4: 100% Safe Evacuation Routing</a:t>
            </a:r>
          </a:p>
        </p:txBody>
      </p:sp>
      <p:sp>
        <p:nvSpPr>
          <p:cNvPr id="29" name="Rounded Rectangle 28"/>
          <p:cNvSpPr/>
          <p:nvPr/>
        </p:nvSpPr>
        <p:spPr>
          <a:xfrm>
            <a:off x="9784080" y="507949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38360" y="5148072"/>
            <a:ext cx="1645920" cy="237744"/>
          </a:xfrm>
          <a:prstGeom prst="rect">
            <a:avLst/>
          </a:prstGeom>
          <a:noFill/>
        </p:spPr>
        <p:txBody>
          <a:bodyPr wrap="none" lIns="0" tIns="0" rIns="0" bIns="0">
            <a:spAutoFit/>
          </a:bodyPr>
          <a:lstStyle/>
          <a:p>
            <a:pPr algn="ctr">
              <a:defRPr sz="1100" b="1">
                <a:solidFill>
                  <a:srgbClr val="10B981"/>
                </a:solidFill>
              </a:defRPr>
            </a:pPr>
            <a:r>
              <a:rPr dirty="0"/>
              <a:t>SAFE NAVIGATION</a:t>
            </a:r>
          </a:p>
        </p:txBody>
      </p:sp>
      <p:sp>
        <p:nvSpPr>
          <p:cNvPr id="31" name="TextBox 30"/>
          <p:cNvSpPr txBox="1"/>
          <p:nvPr/>
        </p:nvSpPr>
        <p:spPr>
          <a:xfrm>
            <a:off x="6455664" y="5390388"/>
            <a:ext cx="4928616" cy="1344168"/>
          </a:xfrm>
          <a:prstGeom prst="rect">
            <a:avLst/>
          </a:prstGeom>
          <a:noFill/>
        </p:spPr>
        <p:txBody>
          <a:bodyPr wrap="square">
            <a:spAutoFit/>
          </a:bodyPr>
          <a:lstStyle/>
          <a:p>
            <a:pPr>
              <a:defRPr sz="1350">
                <a:solidFill>
                  <a:srgbClr val="334155"/>
                </a:solidFill>
              </a:defRPr>
            </a:pPr>
            <a:r>
              <a:rPr dirty="0"/>
              <a:t>Create an obstacle-avoiding routing engine that steers cars around active hazards with a 2 km buffer, sending free alerts via Telegram and WhatsApp.</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PRIOR ART VS NOVELTY</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Literature Review: Existing Solutions vs Research Gap</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80015" y="402336"/>
            <a:ext cx="1463040" cy="310896"/>
          </a:xfrm>
          <a:prstGeom prst="rect">
            <a:avLst/>
          </a:prstGeom>
          <a:noFill/>
        </p:spPr>
        <p:txBody>
          <a:bodyPr wrap="square" lIns="0" tIns="0" rIns="0" bIns="0">
            <a:spAutoFit/>
          </a:bodyPr>
          <a:lstStyle/>
          <a:p>
            <a:pPr algn="ctr">
              <a:defRPr sz="1300" b="1">
                <a:solidFill>
                  <a:srgbClr val="007AFF"/>
                </a:solidFill>
              </a:defRPr>
            </a:pPr>
            <a:r>
              <a:rPr dirty="0"/>
              <a:t>05 / 14</a:t>
            </a:r>
          </a:p>
        </p:txBody>
      </p:sp>
      <p:sp>
        <p:nvSpPr>
          <p:cNvPr id="9" name="Rounded Rectangle 8"/>
          <p:cNvSpPr/>
          <p:nvPr/>
        </p:nvSpPr>
        <p:spPr>
          <a:xfrm>
            <a:off x="548640" y="1115568"/>
            <a:ext cx="5440680" cy="5303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499616"/>
            <a:ext cx="4928616" cy="411480"/>
          </a:xfrm>
          <a:prstGeom prst="rect">
            <a:avLst/>
          </a:prstGeom>
          <a:noFill/>
        </p:spPr>
        <p:txBody>
          <a:bodyPr wrap="square" lIns="0" tIns="0" rIns="0" bIns="0">
            <a:spAutoFit/>
          </a:bodyPr>
          <a:lstStyle/>
          <a:p>
            <a:pPr>
              <a:defRPr sz="1750" b="1">
                <a:solidFill>
                  <a:srgbClr val="0F172A"/>
                </a:solidFill>
              </a:defRPr>
            </a:pPr>
            <a:r>
              <a:rPr dirty="0"/>
              <a:t>Existing Methods &amp; Their Limitations</a:t>
            </a:r>
          </a:p>
        </p:txBody>
      </p:sp>
      <p:sp>
        <p:nvSpPr>
          <p:cNvPr id="11" name="Rounded Rectangle 10"/>
          <p:cNvSpPr/>
          <p:nvPr/>
        </p:nvSpPr>
        <p:spPr>
          <a:xfrm>
            <a:off x="4041648" y="1965960"/>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41648" y="2011680"/>
            <a:ext cx="1645920" cy="237744"/>
          </a:xfrm>
          <a:prstGeom prst="rect">
            <a:avLst/>
          </a:prstGeom>
          <a:noFill/>
        </p:spPr>
        <p:txBody>
          <a:bodyPr wrap="none" lIns="0" tIns="0" rIns="0" bIns="0">
            <a:spAutoFit/>
          </a:bodyPr>
          <a:lstStyle/>
          <a:p>
            <a:pPr algn="ctr">
              <a:defRPr sz="1100" b="1">
                <a:solidFill>
                  <a:srgbClr val="64748B"/>
                </a:solidFill>
              </a:defRPr>
            </a:pPr>
            <a:r>
              <a:t>OLD METHODS</a:t>
            </a:r>
          </a:p>
        </p:txBody>
      </p:sp>
      <p:sp>
        <p:nvSpPr>
          <p:cNvPr id="13" name="TextBox 12"/>
          <p:cNvSpPr txBox="1"/>
          <p:nvPr/>
        </p:nvSpPr>
        <p:spPr>
          <a:xfrm>
            <a:off x="841248" y="2523744"/>
            <a:ext cx="4928616" cy="3154710"/>
          </a:xfrm>
          <a:prstGeom prst="rect">
            <a:avLst/>
          </a:prstGeom>
          <a:noFill/>
        </p:spPr>
        <p:txBody>
          <a:bodyPr wrap="square">
            <a:spAutoFit/>
          </a:bodyPr>
          <a:lstStyle/>
          <a:p>
            <a:pPr>
              <a:spcBef>
                <a:spcPts val="1800"/>
              </a:spcBef>
            </a:pPr>
            <a:r>
              <a:rPr sz="1400" b="1" dirty="0">
                <a:solidFill>
                  <a:srgbClr val="0F172A"/>
                </a:solidFill>
              </a:rPr>
              <a:t>• Static Susceptibility Maps (GSI / USGS): </a:t>
            </a:r>
            <a:r>
              <a:rPr sz="1400" b="0" dirty="0">
                <a:solidFill>
                  <a:srgbClr val="334155"/>
                </a:solidFill>
              </a:rPr>
              <a:t>Old historical maps cannot respond to sudden, live monsoon storms happening right now.</a:t>
            </a:r>
          </a:p>
          <a:p>
            <a:pPr>
              <a:spcBef>
                <a:spcPts val="1800"/>
              </a:spcBef>
            </a:pPr>
            <a:r>
              <a:rPr sz="1400" b="1" dirty="0">
                <a:solidFill>
                  <a:srgbClr val="0F172A"/>
                </a:solidFill>
              </a:rPr>
              <a:t>• Rainfall Formulas (Caine / Guzzetti): </a:t>
            </a:r>
            <a:r>
              <a:rPr sz="1400" b="0" dirty="0">
                <a:solidFill>
                  <a:srgbClr val="334155"/>
                </a:solidFill>
              </a:rPr>
              <a:t>Simple rainfall formulas cause excessive false alarms because they ignore slope angles and ground wetness.</a:t>
            </a:r>
          </a:p>
          <a:p>
            <a:pPr>
              <a:spcBef>
                <a:spcPts val="1800"/>
              </a:spcBef>
            </a:pPr>
            <a:r>
              <a:rPr sz="1400" b="1" dirty="0">
                <a:solidFill>
                  <a:srgbClr val="0F172A"/>
                </a:solidFill>
              </a:rPr>
              <a:t>• Standard Navigation (Google Maps): </a:t>
            </a:r>
            <a:r>
              <a:rPr sz="1400" b="0" dirty="0">
                <a:solidFill>
                  <a:srgbClr val="334155"/>
                </a:solidFill>
              </a:rPr>
              <a:t>Finds only the fastest road and is completely unaware of active landslides or blocked bridges.</a:t>
            </a:r>
          </a:p>
          <a:p>
            <a:pPr>
              <a:spcBef>
                <a:spcPts val="1800"/>
              </a:spcBef>
            </a:pPr>
            <a:r>
              <a:rPr sz="1400" b="1" dirty="0">
                <a:solidFill>
                  <a:srgbClr val="0F172A"/>
                </a:solidFill>
              </a:rPr>
              <a:t>• Crowdsourcing Tools</a:t>
            </a:r>
            <a:r>
              <a:rPr lang="en-IN" sz="1400" b="1" dirty="0">
                <a:solidFill>
                  <a:srgbClr val="0F172A"/>
                </a:solidFill>
              </a:rPr>
              <a:t> </a:t>
            </a:r>
            <a:r>
              <a:rPr sz="1400" b="1" dirty="0">
                <a:solidFill>
                  <a:srgbClr val="0F172A"/>
                </a:solidFill>
              </a:rPr>
              <a:t>: </a:t>
            </a:r>
            <a:r>
              <a:rPr sz="1400" b="0" dirty="0">
                <a:solidFill>
                  <a:srgbClr val="334155"/>
                </a:solidFill>
              </a:rPr>
              <a:t>Collects crowd reports but lacks AI photo verification, causing massive administrative backlogs.</a:t>
            </a:r>
          </a:p>
        </p:txBody>
      </p:sp>
      <p:sp>
        <p:nvSpPr>
          <p:cNvPr id="14" name="Rounded Rectangle 13"/>
          <p:cNvSpPr/>
          <p:nvPr/>
        </p:nvSpPr>
        <p:spPr>
          <a:xfrm>
            <a:off x="6199632" y="1188720"/>
            <a:ext cx="5440680" cy="53035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1554480"/>
            <a:ext cx="4928616" cy="411480"/>
          </a:xfrm>
          <a:prstGeom prst="rect">
            <a:avLst/>
          </a:prstGeom>
          <a:noFill/>
        </p:spPr>
        <p:txBody>
          <a:bodyPr wrap="square" lIns="0" tIns="0" rIns="0" bIns="0">
            <a:spAutoFit/>
          </a:bodyPr>
          <a:lstStyle/>
          <a:p>
            <a:pPr>
              <a:defRPr sz="1750" b="1">
                <a:solidFill>
                  <a:srgbClr val="007AFF"/>
                </a:solidFill>
              </a:defRPr>
            </a:pPr>
            <a:r>
              <a:rPr dirty="0"/>
              <a:t>The Research Gap </a:t>
            </a:r>
            <a:r>
              <a:rPr dirty="0" err="1"/>
              <a:t>TerraRisk</a:t>
            </a:r>
            <a:r>
              <a:rPr dirty="0"/>
              <a:t> AI Fills</a:t>
            </a:r>
          </a:p>
        </p:txBody>
      </p:sp>
      <p:sp>
        <p:nvSpPr>
          <p:cNvPr id="16" name="Rounded Rectangle 15"/>
          <p:cNvSpPr/>
          <p:nvPr/>
        </p:nvSpPr>
        <p:spPr>
          <a:xfrm>
            <a:off x="9774936" y="1938528"/>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7971" y="1993392"/>
            <a:ext cx="1645920" cy="237744"/>
          </a:xfrm>
          <a:prstGeom prst="rect">
            <a:avLst/>
          </a:prstGeom>
          <a:noFill/>
        </p:spPr>
        <p:txBody>
          <a:bodyPr wrap="none" lIns="0" tIns="0" rIns="0" bIns="0">
            <a:spAutoFit/>
          </a:bodyPr>
          <a:lstStyle/>
          <a:p>
            <a:pPr algn="ctr">
              <a:defRPr sz="1100" b="1">
                <a:solidFill>
                  <a:srgbClr val="007AFF"/>
                </a:solidFill>
              </a:defRPr>
            </a:pPr>
            <a:r>
              <a:rPr dirty="0"/>
              <a:t>TERRARISK NOVELTY</a:t>
            </a:r>
          </a:p>
        </p:txBody>
      </p:sp>
      <p:sp>
        <p:nvSpPr>
          <p:cNvPr id="18" name="TextBox 17"/>
          <p:cNvSpPr txBox="1"/>
          <p:nvPr/>
        </p:nvSpPr>
        <p:spPr>
          <a:xfrm>
            <a:off x="6422136" y="2400300"/>
            <a:ext cx="4928616" cy="4480560"/>
          </a:xfrm>
          <a:prstGeom prst="rect">
            <a:avLst/>
          </a:prstGeom>
          <a:noFill/>
        </p:spPr>
        <p:txBody>
          <a:bodyPr wrap="square">
            <a:spAutoFit/>
          </a:bodyPr>
          <a:lstStyle/>
          <a:p>
            <a:pPr>
              <a:spcBef>
                <a:spcPts val="1800"/>
              </a:spcBef>
            </a:pPr>
            <a:r>
              <a:rPr sz="1400" b="1" dirty="0">
                <a:solidFill>
                  <a:srgbClr val="0F172A"/>
                </a:solidFill>
              </a:rPr>
              <a:t>• Physics-Guided Machine Learning: </a:t>
            </a:r>
            <a:r>
              <a:rPr sz="1400" b="0" dirty="0">
                <a:solidFill>
                  <a:srgbClr val="334155"/>
                </a:solidFill>
              </a:rPr>
              <a:t>Connects live weather telemetry, 3-day accumulated rain, and 30m slope elevation into one live AI model.</a:t>
            </a:r>
          </a:p>
          <a:p>
            <a:pPr>
              <a:spcBef>
                <a:spcPts val="1800"/>
              </a:spcBef>
            </a:pPr>
            <a:r>
              <a:rPr sz="1400" b="1" dirty="0">
                <a:solidFill>
                  <a:srgbClr val="0F172A"/>
                </a:solidFill>
              </a:rPr>
              <a:t>• Sub-Second Photo Verification: </a:t>
            </a:r>
            <a:r>
              <a:rPr sz="1400" b="0" dirty="0">
                <a:solidFill>
                  <a:srgbClr val="334155"/>
                </a:solidFill>
              </a:rPr>
              <a:t>3-Tier Computer Vision scans photos in under 600ms, removing 86.4% of false reports automatically.</a:t>
            </a:r>
          </a:p>
          <a:p>
            <a:pPr>
              <a:spcBef>
                <a:spcPts val="1800"/>
              </a:spcBef>
            </a:pPr>
            <a:r>
              <a:rPr sz="1400" b="1" dirty="0">
                <a:solidFill>
                  <a:srgbClr val="0F172A"/>
                </a:solidFill>
              </a:rPr>
              <a:t>• Hazard-Penalty Routing: </a:t>
            </a:r>
            <a:r>
              <a:rPr sz="1400" b="0" dirty="0">
                <a:solidFill>
                  <a:srgbClr val="334155"/>
                </a:solidFill>
              </a:rPr>
              <a:t>Enforces a strict 2.0 km life-saving perimeter around active hazards, routing evacuees safely.</a:t>
            </a:r>
          </a:p>
          <a:p>
            <a:pPr>
              <a:spcBef>
                <a:spcPts val="1800"/>
              </a:spcBef>
            </a:pPr>
            <a:r>
              <a:rPr sz="1400" b="1" dirty="0">
                <a:solidFill>
                  <a:srgbClr val="0F172A"/>
                </a:solidFill>
              </a:rPr>
              <a:t>• Free Community Broadcasting: </a:t>
            </a:r>
            <a:r>
              <a:rPr sz="1400" b="0" dirty="0">
                <a:solidFill>
                  <a:srgbClr val="334155"/>
                </a:solidFill>
              </a:rPr>
              <a:t>Sends automated emergency warnings via Telegram and WhatsApp without costly commercial SMS fees.</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SYSTEM OVERVIEW</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Proposed System: 3-Step Simple Pipeline</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68128" y="402336"/>
            <a:ext cx="1463040" cy="310896"/>
          </a:xfrm>
          <a:prstGeom prst="rect">
            <a:avLst/>
          </a:prstGeom>
          <a:noFill/>
        </p:spPr>
        <p:txBody>
          <a:bodyPr wrap="square" lIns="0" tIns="0" rIns="0" bIns="0">
            <a:spAutoFit/>
          </a:bodyPr>
          <a:lstStyle/>
          <a:p>
            <a:pPr algn="ctr">
              <a:defRPr sz="1300" b="1">
                <a:solidFill>
                  <a:srgbClr val="007AFF"/>
                </a:solidFill>
              </a:defRPr>
            </a:pPr>
            <a:r>
              <a:rPr dirty="0"/>
              <a:t>06 / 14</a:t>
            </a:r>
          </a:p>
        </p:txBody>
      </p:sp>
      <p:sp>
        <p:nvSpPr>
          <p:cNvPr id="9" name="Rounded Rectangle 8"/>
          <p:cNvSpPr/>
          <p:nvPr/>
        </p:nvSpPr>
        <p:spPr>
          <a:xfrm>
            <a:off x="548640" y="1188720"/>
            <a:ext cx="3429000" cy="53035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2916936" cy="411480"/>
          </a:xfrm>
          <a:prstGeom prst="rect">
            <a:avLst/>
          </a:prstGeom>
          <a:noFill/>
        </p:spPr>
        <p:txBody>
          <a:bodyPr wrap="square" lIns="0" tIns="0" rIns="0" bIns="0">
            <a:spAutoFit/>
          </a:bodyPr>
          <a:lstStyle/>
          <a:p>
            <a:pPr>
              <a:defRPr sz="1750" b="1">
                <a:solidFill>
                  <a:srgbClr val="007AFF"/>
                </a:solidFill>
              </a:defRPr>
            </a:pPr>
            <a:r>
              <a:t>1. Ingest Raw Signals</a:t>
            </a:r>
          </a:p>
        </p:txBody>
      </p:sp>
      <p:sp>
        <p:nvSpPr>
          <p:cNvPr id="11" name="Rounded Rectangle 10"/>
          <p:cNvSpPr/>
          <p:nvPr/>
        </p:nvSpPr>
        <p:spPr>
          <a:xfrm>
            <a:off x="2112264" y="171907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12264" y="1773936"/>
            <a:ext cx="1645920" cy="237744"/>
          </a:xfrm>
          <a:prstGeom prst="rect">
            <a:avLst/>
          </a:prstGeom>
          <a:noFill/>
        </p:spPr>
        <p:txBody>
          <a:bodyPr wrap="none" lIns="0" tIns="0" rIns="0" bIns="0">
            <a:spAutoFit/>
          </a:bodyPr>
          <a:lstStyle/>
          <a:p>
            <a:pPr algn="ctr">
              <a:defRPr sz="1100" b="1">
                <a:solidFill>
                  <a:srgbClr val="007AFF"/>
                </a:solidFill>
              </a:defRPr>
            </a:pPr>
            <a:r>
              <a:rPr dirty="0"/>
              <a:t>INPUT LAYER</a:t>
            </a:r>
          </a:p>
        </p:txBody>
      </p:sp>
      <p:sp>
        <p:nvSpPr>
          <p:cNvPr id="13" name="TextBox 12"/>
          <p:cNvSpPr txBox="1"/>
          <p:nvPr/>
        </p:nvSpPr>
        <p:spPr>
          <a:xfrm>
            <a:off x="731520" y="2194560"/>
            <a:ext cx="3026664" cy="4480560"/>
          </a:xfrm>
          <a:prstGeom prst="rect">
            <a:avLst/>
          </a:prstGeom>
          <a:noFill/>
        </p:spPr>
        <p:txBody>
          <a:bodyPr wrap="square">
            <a:spAutoFit/>
          </a:bodyPr>
          <a:lstStyle/>
          <a:p>
            <a:pPr>
              <a:spcBef>
                <a:spcPts val="1500"/>
              </a:spcBef>
            </a:pPr>
            <a:r>
              <a:rPr sz="1300" b="1" dirty="0">
                <a:solidFill>
                  <a:srgbClr val="0F172A"/>
                </a:solidFill>
              </a:rPr>
              <a:t>• NASA 30m Elevation Data: </a:t>
            </a:r>
            <a:r>
              <a:rPr sz="1300" b="0" dirty="0">
                <a:solidFill>
                  <a:srgbClr val="334155"/>
                </a:solidFill>
              </a:rPr>
              <a:t>Reads exact mountain heights and slope angles across the region.</a:t>
            </a:r>
          </a:p>
          <a:p>
            <a:pPr>
              <a:spcBef>
                <a:spcPts val="1500"/>
              </a:spcBef>
            </a:pPr>
            <a:r>
              <a:rPr sz="1300" b="1" dirty="0">
                <a:solidFill>
                  <a:srgbClr val="0F172A"/>
                </a:solidFill>
              </a:rPr>
              <a:t>• Live Weather Telemetry: </a:t>
            </a:r>
            <a:r>
              <a:rPr sz="1300" b="0" dirty="0">
                <a:solidFill>
                  <a:srgbClr val="334155"/>
                </a:solidFill>
              </a:rPr>
              <a:t>Streams air pressure, humidity, and rainfall from </a:t>
            </a:r>
            <a:r>
              <a:rPr sz="1300" b="0" dirty="0" err="1">
                <a:solidFill>
                  <a:srgbClr val="334155"/>
                </a:solidFill>
              </a:rPr>
              <a:t>OpenWeatherMap</a:t>
            </a:r>
            <a:r>
              <a:rPr sz="1300" b="0" dirty="0">
                <a:solidFill>
                  <a:srgbClr val="334155"/>
                </a:solidFill>
              </a:rPr>
              <a:t>.</a:t>
            </a:r>
          </a:p>
          <a:p>
            <a:pPr>
              <a:spcBef>
                <a:spcPts val="1500"/>
              </a:spcBef>
            </a:pPr>
            <a:r>
              <a:rPr sz="1300" b="1" dirty="0">
                <a:solidFill>
                  <a:srgbClr val="0F172A"/>
                </a:solidFill>
              </a:rPr>
              <a:t>• Citizen Photo Submissions: </a:t>
            </a:r>
            <a:r>
              <a:rPr sz="1300" b="0" dirty="0">
                <a:solidFill>
                  <a:srgbClr val="334155"/>
                </a:solidFill>
              </a:rPr>
              <a:t>Collects GPS-tagged photos of cracks, rockfalls, and road blocks.</a:t>
            </a:r>
          </a:p>
          <a:p>
            <a:pPr>
              <a:spcBef>
                <a:spcPts val="1500"/>
              </a:spcBef>
            </a:pPr>
            <a:r>
              <a:rPr sz="1300" b="1" dirty="0">
                <a:solidFill>
                  <a:srgbClr val="0F172A"/>
                </a:solidFill>
              </a:rPr>
              <a:t>• Relief Camp Data: </a:t>
            </a:r>
            <a:r>
              <a:rPr sz="1300" b="0" dirty="0">
                <a:solidFill>
                  <a:srgbClr val="334155"/>
                </a:solidFill>
              </a:rPr>
              <a:t>Monitors live bed vacancies, food rations, and medical supplies.</a:t>
            </a:r>
          </a:p>
        </p:txBody>
      </p:sp>
      <p:sp>
        <p:nvSpPr>
          <p:cNvPr id="16" name="Rounded Rectangle 15"/>
          <p:cNvSpPr/>
          <p:nvPr/>
        </p:nvSpPr>
        <p:spPr>
          <a:xfrm>
            <a:off x="4379976" y="1188720"/>
            <a:ext cx="3429000" cy="53035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36008" y="1371600"/>
            <a:ext cx="2916936" cy="411480"/>
          </a:xfrm>
          <a:prstGeom prst="rect">
            <a:avLst/>
          </a:prstGeom>
          <a:noFill/>
        </p:spPr>
        <p:txBody>
          <a:bodyPr wrap="square" lIns="0" tIns="0" rIns="0" bIns="0">
            <a:spAutoFit/>
          </a:bodyPr>
          <a:lstStyle/>
          <a:p>
            <a:pPr>
              <a:defRPr sz="1750" b="1">
                <a:solidFill>
                  <a:srgbClr val="D97706"/>
                </a:solidFill>
              </a:defRPr>
            </a:pPr>
            <a:r>
              <a:t>2. AI Processing Brain</a:t>
            </a:r>
          </a:p>
        </p:txBody>
      </p:sp>
      <p:sp>
        <p:nvSpPr>
          <p:cNvPr id="18" name="Rounded Rectangle 17"/>
          <p:cNvSpPr/>
          <p:nvPr/>
        </p:nvSpPr>
        <p:spPr>
          <a:xfrm>
            <a:off x="5943600" y="1746504"/>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0" y="1819656"/>
            <a:ext cx="1645920" cy="237744"/>
          </a:xfrm>
          <a:prstGeom prst="rect">
            <a:avLst/>
          </a:prstGeom>
          <a:noFill/>
        </p:spPr>
        <p:txBody>
          <a:bodyPr wrap="none" lIns="0" tIns="0" rIns="0" bIns="0">
            <a:spAutoFit/>
          </a:bodyPr>
          <a:lstStyle/>
          <a:p>
            <a:pPr algn="ctr">
              <a:defRPr sz="1100" b="1">
                <a:solidFill>
                  <a:srgbClr val="D97706"/>
                </a:solidFill>
              </a:defRPr>
            </a:pPr>
            <a:r>
              <a:t>AI CORE</a:t>
            </a:r>
          </a:p>
        </p:txBody>
      </p:sp>
      <p:sp>
        <p:nvSpPr>
          <p:cNvPr id="20" name="TextBox 19"/>
          <p:cNvSpPr txBox="1"/>
          <p:nvPr/>
        </p:nvSpPr>
        <p:spPr>
          <a:xfrm>
            <a:off x="4581144" y="2267712"/>
            <a:ext cx="3026664" cy="4480560"/>
          </a:xfrm>
          <a:prstGeom prst="rect">
            <a:avLst/>
          </a:prstGeom>
          <a:noFill/>
        </p:spPr>
        <p:txBody>
          <a:bodyPr wrap="square">
            <a:spAutoFit/>
          </a:bodyPr>
          <a:lstStyle/>
          <a:p>
            <a:pPr>
              <a:spcBef>
                <a:spcPts val="1500"/>
              </a:spcBef>
            </a:pPr>
            <a:r>
              <a:rPr sz="1300" b="1" dirty="0">
                <a:solidFill>
                  <a:srgbClr val="0F172A"/>
                </a:solidFill>
              </a:rPr>
              <a:t>• Landslide Risk AI: </a:t>
            </a:r>
            <a:r>
              <a:rPr sz="1300" b="0" dirty="0">
                <a:solidFill>
                  <a:srgbClr val="334155"/>
                </a:solidFill>
              </a:rPr>
              <a:t>Combines slope, soil, and 3-day rain to calculate risk score (0 to 100%).</a:t>
            </a:r>
          </a:p>
          <a:p>
            <a:pPr>
              <a:spcBef>
                <a:spcPts val="1500"/>
              </a:spcBef>
            </a:pPr>
            <a:r>
              <a:rPr sz="1300" b="1" dirty="0">
                <a:solidFill>
                  <a:srgbClr val="0F172A"/>
                </a:solidFill>
              </a:rPr>
              <a:t>• Rainfall Prediction Model: </a:t>
            </a:r>
            <a:r>
              <a:rPr sz="1300" b="0" dirty="0">
                <a:solidFill>
                  <a:srgbClr val="334155"/>
                </a:solidFill>
              </a:rPr>
              <a:t>Forecasts expected daily rainfall from atmospheric pressure drops.</a:t>
            </a:r>
          </a:p>
          <a:p>
            <a:pPr>
              <a:spcBef>
                <a:spcPts val="1500"/>
              </a:spcBef>
            </a:pPr>
            <a:r>
              <a:rPr sz="1300" b="1" dirty="0">
                <a:solidFill>
                  <a:srgbClr val="0F172A"/>
                </a:solidFill>
              </a:rPr>
              <a:t>• 3-Tier Computer Vision: </a:t>
            </a:r>
            <a:r>
              <a:rPr sz="1300" b="0" dirty="0">
                <a:solidFill>
                  <a:srgbClr val="334155"/>
                </a:solidFill>
              </a:rPr>
              <a:t>Verifies photo legitimacy in &lt;40ms locally and scores crack severity.</a:t>
            </a:r>
          </a:p>
          <a:p>
            <a:pPr>
              <a:spcBef>
                <a:spcPts val="1500"/>
              </a:spcBef>
            </a:pPr>
            <a:r>
              <a:rPr sz="1300" b="1" dirty="0">
                <a:solidFill>
                  <a:srgbClr val="0F172A"/>
                </a:solidFill>
              </a:rPr>
              <a:t>• Spatial Report Grouping: </a:t>
            </a:r>
            <a:r>
              <a:rPr sz="1300" b="0" dirty="0">
                <a:solidFill>
                  <a:srgbClr val="334155"/>
                </a:solidFill>
              </a:rPr>
              <a:t>Combines nearby reports within 500m to eliminate duplicates.</a:t>
            </a:r>
          </a:p>
        </p:txBody>
      </p:sp>
      <p:sp>
        <p:nvSpPr>
          <p:cNvPr id="23" name="Rounded Rectangle 22"/>
          <p:cNvSpPr/>
          <p:nvPr/>
        </p:nvSpPr>
        <p:spPr>
          <a:xfrm>
            <a:off x="8211312" y="1188720"/>
            <a:ext cx="3429000" cy="53035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67344" y="1371600"/>
            <a:ext cx="2916936" cy="411480"/>
          </a:xfrm>
          <a:prstGeom prst="rect">
            <a:avLst/>
          </a:prstGeom>
          <a:noFill/>
        </p:spPr>
        <p:txBody>
          <a:bodyPr wrap="square" lIns="0" tIns="0" rIns="0" bIns="0">
            <a:spAutoFit/>
          </a:bodyPr>
          <a:lstStyle/>
          <a:p>
            <a:pPr>
              <a:defRPr sz="1750" b="1">
                <a:solidFill>
                  <a:srgbClr val="10B981"/>
                </a:solidFill>
              </a:defRPr>
            </a:pPr>
            <a:r>
              <a:t>3. Life-Saving Actions</a:t>
            </a:r>
          </a:p>
        </p:txBody>
      </p:sp>
      <p:sp>
        <p:nvSpPr>
          <p:cNvPr id="25" name="Rounded Rectangle 24"/>
          <p:cNvSpPr/>
          <p:nvPr/>
        </p:nvSpPr>
        <p:spPr>
          <a:xfrm>
            <a:off x="9738360" y="1746504"/>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74936" y="1837944"/>
            <a:ext cx="1645920" cy="237744"/>
          </a:xfrm>
          <a:prstGeom prst="rect">
            <a:avLst/>
          </a:prstGeom>
          <a:noFill/>
        </p:spPr>
        <p:txBody>
          <a:bodyPr wrap="none" lIns="0" tIns="0" rIns="0" bIns="0">
            <a:spAutoFit/>
          </a:bodyPr>
          <a:lstStyle/>
          <a:p>
            <a:pPr algn="ctr">
              <a:defRPr sz="1100" b="1">
                <a:solidFill>
                  <a:srgbClr val="10B981"/>
                </a:solidFill>
              </a:defRPr>
            </a:pPr>
            <a:r>
              <a:rPr dirty="0"/>
              <a:t>ACTION LAYER</a:t>
            </a:r>
          </a:p>
        </p:txBody>
      </p:sp>
      <p:sp>
        <p:nvSpPr>
          <p:cNvPr id="27" name="TextBox 26"/>
          <p:cNvSpPr txBox="1"/>
          <p:nvPr/>
        </p:nvSpPr>
        <p:spPr>
          <a:xfrm>
            <a:off x="8467344" y="2267712"/>
            <a:ext cx="3026664" cy="4480560"/>
          </a:xfrm>
          <a:prstGeom prst="rect">
            <a:avLst/>
          </a:prstGeom>
          <a:noFill/>
        </p:spPr>
        <p:txBody>
          <a:bodyPr wrap="square">
            <a:spAutoFit/>
          </a:bodyPr>
          <a:lstStyle/>
          <a:p>
            <a:pPr>
              <a:spcBef>
                <a:spcPts val="1500"/>
              </a:spcBef>
            </a:pPr>
            <a:r>
              <a:rPr sz="1300" b="1" dirty="0">
                <a:solidFill>
                  <a:srgbClr val="0F172A"/>
                </a:solidFill>
              </a:rPr>
              <a:t>• Safe 2 km Detour Navigation: </a:t>
            </a:r>
            <a:r>
              <a:rPr sz="1300" b="0" dirty="0">
                <a:solidFill>
                  <a:srgbClr val="334155"/>
                </a:solidFill>
              </a:rPr>
              <a:t>Automatically calculates safe driving routes that bypass danger zones.</a:t>
            </a:r>
          </a:p>
          <a:p>
            <a:pPr>
              <a:spcBef>
                <a:spcPts val="1500"/>
              </a:spcBef>
            </a:pPr>
            <a:r>
              <a:rPr sz="1300" b="1" dirty="0">
                <a:solidFill>
                  <a:srgbClr val="0F172A"/>
                </a:solidFill>
              </a:rPr>
              <a:t>• Smart Shelter Allocation: </a:t>
            </a:r>
            <a:r>
              <a:rPr sz="1300" b="0" dirty="0">
                <a:solidFill>
                  <a:srgbClr val="334155"/>
                </a:solidFill>
              </a:rPr>
              <a:t>Guides families to nearby relief camps that have confirmed open beds.</a:t>
            </a:r>
          </a:p>
          <a:p>
            <a:pPr>
              <a:spcBef>
                <a:spcPts val="1500"/>
              </a:spcBef>
            </a:pPr>
            <a:r>
              <a:rPr sz="1300" b="1" dirty="0">
                <a:solidFill>
                  <a:srgbClr val="0F172A"/>
                </a:solidFill>
              </a:rPr>
              <a:t>• Free Instant Alerts: </a:t>
            </a:r>
            <a:r>
              <a:rPr sz="1300" b="0" dirty="0">
                <a:solidFill>
                  <a:srgbClr val="334155"/>
                </a:solidFill>
              </a:rPr>
              <a:t>Broadcasts emergency warnings via Telegram and WhatsApp channels.</a:t>
            </a:r>
          </a:p>
          <a:p>
            <a:pPr>
              <a:spcBef>
                <a:spcPts val="1500"/>
              </a:spcBef>
            </a:pPr>
            <a:r>
              <a:rPr sz="1300" b="1" dirty="0">
                <a:solidFill>
                  <a:srgbClr val="0F172A"/>
                </a:solidFill>
              </a:rPr>
              <a:t>• Automated PDF </a:t>
            </a:r>
            <a:r>
              <a:rPr sz="1300" b="1" dirty="0" err="1">
                <a:solidFill>
                  <a:srgbClr val="0F172A"/>
                </a:solidFill>
              </a:rPr>
              <a:t>SitReps</a:t>
            </a:r>
            <a:r>
              <a:rPr sz="1300" b="1" dirty="0">
                <a:solidFill>
                  <a:srgbClr val="0F172A"/>
                </a:solidFill>
              </a:rPr>
              <a:t>: </a:t>
            </a:r>
            <a:r>
              <a:rPr sz="1300" b="0" dirty="0">
                <a:solidFill>
                  <a:srgbClr val="334155"/>
                </a:solidFill>
              </a:rPr>
              <a:t>Generates official Kerala Disaster Management situation reports instantly.</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EASY EXPLANATION</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Methodology: How the AI Calculates Risk</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80015" y="347472"/>
            <a:ext cx="1463040" cy="310896"/>
          </a:xfrm>
          <a:prstGeom prst="rect">
            <a:avLst/>
          </a:prstGeom>
          <a:noFill/>
        </p:spPr>
        <p:txBody>
          <a:bodyPr wrap="square" lIns="0" tIns="0" rIns="0" bIns="0">
            <a:spAutoFit/>
          </a:bodyPr>
          <a:lstStyle/>
          <a:p>
            <a:pPr algn="ctr">
              <a:defRPr sz="1300" b="1">
                <a:solidFill>
                  <a:srgbClr val="007AFF"/>
                </a:solidFill>
              </a:defRPr>
            </a:pPr>
            <a:r>
              <a:t>07 / 14</a:t>
            </a:r>
          </a:p>
        </p:txBody>
      </p:sp>
      <p:sp>
        <p:nvSpPr>
          <p:cNvPr id="9" name="Rounded Rectangle 8"/>
          <p:cNvSpPr/>
          <p:nvPr/>
        </p:nvSpPr>
        <p:spPr>
          <a:xfrm>
            <a:off x="548640" y="1188720"/>
            <a:ext cx="5440680" cy="53035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1599455"/>
            <a:ext cx="4928616" cy="269304"/>
          </a:xfrm>
          <a:prstGeom prst="rect">
            <a:avLst/>
          </a:prstGeom>
          <a:noFill/>
        </p:spPr>
        <p:txBody>
          <a:bodyPr wrap="square" lIns="0" tIns="0" rIns="0" bIns="0">
            <a:spAutoFit/>
          </a:bodyPr>
          <a:lstStyle/>
          <a:p>
            <a:pPr>
              <a:defRPr sz="1750" b="1">
                <a:solidFill>
                  <a:srgbClr val="007AFF"/>
                </a:solidFill>
              </a:defRPr>
            </a:pPr>
            <a:r>
              <a:rPr dirty="0"/>
              <a:t>The Ingredients of Landslide Risk</a:t>
            </a:r>
          </a:p>
        </p:txBody>
      </p:sp>
      <p:sp>
        <p:nvSpPr>
          <p:cNvPr id="11" name="Rounded Rectangle 10"/>
          <p:cNvSpPr/>
          <p:nvPr/>
        </p:nvSpPr>
        <p:spPr>
          <a:xfrm>
            <a:off x="4105656" y="1645920"/>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87368" y="1700784"/>
            <a:ext cx="1645920" cy="237744"/>
          </a:xfrm>
          <a:prstGeom prst="rect">
            <a:avLst/>
          </a:prstGeom>
          <a:noFill/>
        </p:spPr>
        <p:txBody>
          <a:bodyPr wrap="none" lIns="0" tIns="0" rIns="0" bIns="0">
            <a:spAutoFit/>
          </a:bodyPr>
          <a:lstStyle/>
          <a:p>
            <a:pPr algn="ctr">
              <a:defRPr sz="1100" b="1">
                <a:solidFill>
                  <a:srgbClr val="007AFF"/>
                </a:solidFill>
              </a:defRPr>
            </a:pPr>
            <a:r>
              <a:rPr dirty="0"/>
              <a:t>SIMPLE RULES</a:t>
            </a:r>
          </a:p>
        </p:txBody>
      </p:sp>
      <p:sp>
        <p:nvSpPr>
          <p:cNvPr id="13" name="TextBox 12"/>
          <p:cNvSpPr txBox="1"/>
          <p:nvPr/>
        </p:nvSpPr>
        <p:spPr>
          <a:xfrm>
            <a:off x="763524" y="2084832"/>
            <a:ext cx="4928616" cy="3831818"/>
          </a:xfrm>
          <a:prstGeom prst="rect">
            <a:avLst/>
          </a:prstGeom>
          <a:noFill/>
        </p:spPr>
        <p:txBody>
          <a:bodyPr wrap="square">
            <a:spAutoFit/>
          </a:bodyPr>
          <a:lstStyle/>
          <a:p>
            <a:pPr>
              <a:spcBef>
                <a:spcPts val="1800"/>
              </a:spcBef>
            </a:pPr>
            <a:r>
              <a:rPr sz="1400" b="1" dirty="0">
                <a:solidFill>
                  <a:srgbClr val="0F172A"/>
                </a:solidFill>
              </a:rPr>
              <a:t>• 🏔️ 1. Slope Steepness </a:t>
            </a:r>
            <a:r>
              <a:rPr lang="en-IN" sz="1400" b="1" dirty="0">
                <a:solidFill>
                  <a:srgbClr val="0F172A"/>
                </a:solidFill>
              </a:rPr>
              <a:t>:</a:t>
            </a:r>
            <a:r>
              <a:rPr sz="1400" b="0" dirty="0">
                <a:solidFill>
                  <a:srgbClr val="334155"/>
                </a:solidFill>
              </a:rPr>
              <a:t>Hills steeper than 30° have natural gravitational pull. The steeper the hill, the higher the risk.</a:t>
            </a:r>
          </a:p>
          <a:p>
            <a:pPr>
              <a:spcBef>
                <a:spcPts val="1800"/>
              </a:spcBef>
            </a:pPr>
            <a:r>
              <a:rPr sz="1400" b="1" dirty="0">
                <a:solidFill>
                  <a:srgbClr val="0F172A"/>
                </a:solidFill>
              </a:rPr>
              <a:t>• 🌧️ 2. Three-Day Rain Build-Up : </a:t>
            </a:r>
            <a:r>
              <a:rPr sz="1400" b="0" dirty="0">
                <a:solidFill>
                  <a:srgbClr val="334155"/>
                </a:solidFill>
              </a:rPr>
              <a:t>It is not just today's rain—72 hours of steady rain fills the ground with water, weakening the soil structure.</a:t>
            </a:r>
          </a:p>
          <a:p>
            <a:pPr>
              <a:spcBef>
                <a:spcPts val="1800"/>
              </a:spcBef>
            </a:pPr>
            <a:r>
              <a:rPr sz="1400" b="1" dirty="0">
                <a:solidFill>
                  <a:srgbClr val="0F172A"/>
                </a:solidFill>
              </a:rPr>
              <a:t>• 💧 3. Ground Moisture Saturation </a:t>
            </a:r>
            <a:r>
              <a:rPr lang="en-IN" sz="1400" b="1" dirty="0">
                <a:solidFill>
                  <a:srgbClr val="0F172A"/>
                </a:solidFill>
              </a:rPr>
              <a:t>:</a:t>
            </a:r>
            <a:r>
              <a:rPr sz="1400" b="0" dirty="0">
                <a:solidFill>
                  <a:srgbClr val="334155"/>
                </a:solidFill>
              </a:rPr>
              <a:t>Waterlogged soil turns into heavy mud that slips easily under its own weight.</a:t>
            </a:r>
            <a:endParaRPr lang="en-IN" sz="1400" b="0" dirty="0">
              <a:solidFill>
                <a:srgbClr val="334155"/>
              </a:solidFill>
            </a:endParaRPr>
          </a:p>
          <a:p>
            <a:pPr>
              <a:spcBef>
                <a:spcPts val="1800"/>
              </a:spcBef>
            </a:pPr>
            <a:r>
              <a:rPr lang="en-US" sz="1400" b="1" dirty="0">
                <a:solidFill>
                  <a:srgbClr val="0F172A"/>
                </a:solidFill>
              </a:rPr>
              <a:t>• </a:t>
            </a:r>
            <a:r>
              <a:rPr lang="en-IN" sz="1400" b="1" dirty="0">
                <a:solidFill>
                  <a:srgbClr val="0F172A"/>
                </a:solidFill>
              </a:rPr>
              <a:t>🏔️</a:t>
            </a:r>
            <a:r>
              <a:rPr lang="en-US" sz="1400" b="1" dirty="0">
                <a:solidFill>
                  <a:srgbClr val="0F172A"/>
                </a:solidFill>
              </a:rPr>
              <a:t> 4. Soil type: </a:t>
            </a:r>
            <a:r>
              <a:rPr lang="en-US" sz="1400" dirty="0">
                <a:solidFill>
                  <a:srgbClr val="334155"/>
                </a:solidFill>
              </a:rPr>
              <a:t>What kind of soil (</a:t>
            </a:r>
            <a:r>
              <a:rPr lang="en-US" sz="1400" dirty="0" err="1">
                <a:solidFill>
                  <a:srgbClr val="334155"/>
                </a:solidFill>
              </a:rPr>
              <a:t>eg</a:t>
            </a:r>
            <a:r>
              <a:rPr lang="en-US" sz="1400" dirty="0">
                <a:solidFill>
                  <a:srgbClr val="334155"/>
                </a:solidFill>
              </a:rPr>
              <a:t> : Red Soil, Black Soil).</a:t>
            </a:r>
          </a:p>
          <a:p>
            <a:pPr>
              <a:spcBef>
                <a:spcPts val="1800"/>
              </a:spcBef>
            </a:pPr>
            <a:r>
              <a:rPr lang="en-US" sz="1400" b="1" dirty="0">
                <a:solidFill>
                  <a:srgbClr val="0F172A"/>
                </a:solidFill>
              </a:rPr>
              <a:t> • </a:t>
            </a:r>
            <a:r>
              <a:rPr lang="en-IN" sz="1400" b="1" dirty="0">
                <a:solidFill>
                  <a:srgbClr val="0F172A"/>
                </a:solidFill>
              </a:rPr>
              <a:t>🏔️</a:t>
            </a:r>
            <a:r>
              <a:rPr lang="en-US" sz="1400" b="1" dirty="0">
                <a:solidFill>
                  <a:srgbClr val="0F172A"/>
                </a:solidFill>
              </a:rPr>
              <a:t> 5. Elevation: </a:t>
            </a:r>
            <a:r>
              <a:rPr lang="en-US" sz="1400" dirty="0">
                <a:solidFill>
                  <a:srgbClr val="334155"/>
                </a:solidFill>
              </a:rPr>
              <a:t>Height of the terrain from the sea level..</a:t>
            </a:r>
          </a:p>
          <a:p>
            <a:pPr>
              <a:spcBef>
                <a:spcPts val="1800"/>
              </a:spcBef>
            </a:pPr>
            <a:r>
              <a:rPr sz="1400" b="1" dirty="0">
                <a:solidFill>
                  <a:srgbClr val="0F172A"/>
                </a:solidFill>
              </a:rPr>
              <a:t>• 🛡️ Flatland Safety Rule: </a:t>
            </a:r>
            <a:r>
              <a:rPr sz="1400" b="0" dirty="0">
                <a:solidFill>
                  <a:srgbClr val="334155"/>
                </a:solidFill>
              </a:rPr>
              <a:t>If the terrain is flat (slope &lt; 8°) and at low altitude, risk is forced to near 0%. This eliminates 92% of false alarms in coastal plains.</a:t>
            </a:r>
          </a:p>
        </p:txBody>
      </p:sp>
      <p:sp>
        <p:nvSpPr>
          <p:cNvPr id="14" name="Rounded Rectangle 13"/>
          <p:cNvSpPr/>
          <p:nvPr/>
        </p:nvSpPr>
        <p:spPr>
          <a:xfrm>
            <a:off x="6199632" y="1188720"/>
            <a:ext cx="5440680" cy="53035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05956" y="1545336"/>
            <a:ext cx="4928616" cy="411480"/>
          </a:xfrm>
          <a:prstGeom prst="rect">
            <a:avLst/>
          </a:prstGeom>
          <a:noFill/>
        </p:spPr>
        <p:txBody>
          <a:bodyPr wrap="square" lIns="0" tIns="0" rIns="0" bIns="0">
            <a:spAutoFit/>
          </a:bodyPr>
          <a:lstStyle/>
          <a:p>
            <a:pPr>
              <a:defRPr sz="1750" b="1">
                <a:solidFill>
                  <a:srgbClr val="10B981"/>
                </a:solidFill>
              </a:defRPr>
            </a:pPr>
            <a:r>
              <a:rPr dirty="0"/>
              <a:t>How the AI Responds to Risk</a:t>
            </a:r>
          </a:p>
        </p:txBody>
      </p:sp>
      <p:sp>
        <p:nvSpPr>
          <p:cNvPr id="16" name="Rounded Rectangle 15"/>
          <p:cNvSpPr/>
          <p:nvPr/>
        </p:nvSpPr>
        <p:spPr>
          <a:xfrm>
            <a:off x="9697212" y="1618488"/>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56064" y="1691640"/>
            <a:ext cx="1645920" cy="237744"/>
          </a:xfrm>
          <a:prstGeom prst="rect">
            <a:avLst/>
          </a:prstGeom>
          <a:noFill/>
        </p:spPr>
        <p:txBody>
          <a:bodyPr wrap="none" lIns="0" tIns="0" rIns="0" bIns="0">
            <a:spAutoFit/>
          </a:bodyPr>
          <a:lstStyle/>
          <a:p>
            <a:pPr algn="ctr">
              <a:defRPr sz="1100" b="1">
                <a:solidFill>
                  <a:srgbClr val="10B981"/>
                </a:solidFill>
              </a:defRPr>
            </a:pPr>
            <a:r>
              <a:rPr dirty="0"/>
              <a:t>ACTION LEVELS</a:t>
            </a:r>
          </a:p>
        </p:txBody>
      </p:sp>
      <p:sp>
        <p:nvSpPr>
          <p:cNvPr id="18" name="TextBox 17"/>
          <p:cNvSpPr txBox="1"/>
          <p:nvPr/>
        </p:nvSpPr>
        <p:spPr>
          <a:xfrm>
            <a:off x="6455664" y="2084832"/>
            <a:ext cx="4928616" cy="4480560"/>
          </a:xfrm>
          <a:prstGeom prst="rect">
            <a:avLst/>
          </a:prstGeom>
          <a:noFill/>
        </p:spPr>
        <p:txBody>
          <a:bodyPr wrap="square">
            <a:spAutoFit/>
          </a:bodyPr>
          <a:lstStyle/>
          <a:p>
            <a:pPr>
              <a:spcBef>
                <a:spcPts val="1800"/>
              </a:spcBef>
            </a:pPr>
            <a:r>
              <a:rPr sz="1400" b="1">
                <a:solidFill>
                  <a:srgbClr val="0F172A"/>
                </a:solidFill>
              </a:rPr>
              <a:t>• 🟢 0% – 20% (Safe): </a:t>
            </a:r>
            <a:r>
              <a:rPr sz="1400" b="0">
                <a:solidFill>
                  <a:srgbClr val="334155"/>
                </a:solidFill>
              </a:rPr>
              <a:t>Normal mountain conditions. The system logs environmental data silently.</a:t>
            </a:r>
          </a:p>
          <a:p>
            <a:pPr>
              <a:spcBef>
                <a:spcPts val="1800"/>
              </a:spcBef>
            </a:pPr>
            <a:r>
              <a:rPr sz="1400" b="1">
                <a:solidFill>
                  <a:srgbClr val="0F172A"/>
                </a:solidFill>
              </a:rPr>
              <a:t>• 🟡 20% – 50% (Active Watch): </a:t>
            </a:r>
            <a:r>
              <a:rPr sz="1400" b="0">
                <a:solidFill>
                  <a:srgbClr val="334155"/>
                </a:solidFill>
              </a:rPr>
              <a:t>Rain is accumulating. System alerts local ward officers to inspect slopes.</a:t>
            </a:r>
          </a:p>
          <a:p>
            <a:pPr>
              <a:spcBef>
                <a:spcPts val="1800"/>
              </a:spcBef>
            </a:pPr>
            <a:r>
              <a:rPr sz="1400" b="1">
                <a:solidFill>
                  <a:srgbClr val="0F172A"/>
                </a:solidFill>
              </a:rPr>
              <a:t>• 🟠 50% – 80% (Critical Threat): </a:t>
            </a:r>
            <a:r>
              <a:rPr sz="1400" b="0">
                <a:solidFill>
                  <a:srgbClr val="334155"/>
                </a:solidFill>
              </a:rPr>
              <a:t>Soil is reaching saturation. Automated alerts sent to residents to prepare.</a:t>
            </a:r>
          </a:p>
          <a:p>
            <a:pPr>
              <a:spcBef>
                <a:spcPts val="1800"/>
              </a:spcBef>
            </a:pPr>
            <a:r>
              <a:rPr sz="1400" b="1">
                <a:solidFill>
                  <a:srgbClr val="0F172A"/>
                </a:solidFill>
              </a:rPr>
              <a:t>• 🔴 80% – 100% (Emergency Evacuation): </a:t>
            </a:r>
            <a:r>
              <a:rPr sz="1400" b="0">
                <a:solidFill>
                  <a:srgbClr val="334155"/>
                </a:solidFill>
              </a:rPr>
              <a:t>Immediate disaster warning sent. The system draws a 2.0 km safety ring around the area and forces navigation apps to detour.</a:t>
            </a: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PIPELINE FLOW</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System Architecture: 4-Stage Workflow</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8184" y="413766"/>
            <a:ext cx="1463040" cy="310896"/>
          </a:xfrm>
          <a:prstGeom prst="rect">
            <a:avLst/>
          </a:prstGeom>
          <a:noFill/>
        </p:spPr>
        <p:txBody>
          <a:bodyPr wrap="square" lIns="0" tIns="0" rIns="0" bIns="0">
            <a:spAutoFit/>
          </a:bodyPr>
          <a:lstStyle/>
          <a:p>
            <a:pPr algn="ctr">
              <a:defRPr sz="1300" b="1">
                <a:solidFill>
                  <a:srgbClr val="007AFF"/>
                </a:solidFill>
              </a:defRPr>
            </a:pPr>
            <a:r>
              <a:rPr dirty="0"/>
              <a:t>08 / 14</a:t>
            </a:r>
          </a:p>
        </p:txBody>
      </p:sp>
      <p:sp>
        <p:nvSpPr>
          <p:cNvPr id="9" name="Rounded Rectangle 8"/>
          <p:cNvSpPr/>
          <p:nvPr/>
        </p:nvSpPr>
        <p:spPr>
          <a:xfrm>
            <a:off x="548640" y="1188720"/>
            <a:ext cx="2651760" cy="39319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2139696" cy="411480"/>
          </a:xfrm>
          <a:prstGeom prst="rect">
            <a:avLst/>
          </a:prstGeom>
          <a:noFill/>
        </p:spPr>
        <p:txBody>
          <a:bodyPr wrap="square" lIns="0" tIns="0" rIns="0" bIns="0">
            <a:spAutoFit/>
          </a:bodyPr>
          <a:lstStyle/>
          <a:p>
            <a:pPr>
              <a:defRPr sz="1750" b="1">
                <a:solidFill>
                  <a:srgbClr val="007AFF"/>
                </a:solidFill>
              </a:defRPr>
            </a:pPr>
            <a:r>
              <a:t>STEP 1: Ingest Data</a:t>
            </a:r>
          </a:p>
        </p:txBody>
      </p:sp>
      <p:sp>
        <p:nvSpPr>
          <p:cNvPr id="11" name="Rounded Rectangle 10"/>
          <p:cNvSpPr/>
          <p:nvPr/>
        </p:nvSpPr>
        <p:spPr>
          <a:xfrm>
            <a:off x="1344168" y="1764792"/>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35024" y="1810512"/>
            <a:ext cx="1645920" cy="237744"/>
          </a:xfrm>
          <a:prstGeom prst="rect">
            <a:avLst/>
          </a:prstGeom>
          <a:noFill/>
        </p:spPr>
        <p:txBody>
          <a:bodyPr wrap="none" lIns="0" tIns="0" rIns="0" bIns="0">
            <a:spAutoFit/>
          </a:bodyPr>
          <a:lstStyle/>
          <a:p>
            <a:pPr algn="ctr">
              <a:defRPr sz="1100" b="1">
                <a:solidFill>
                  <a:srgbClr val="007AFF"/>
                </a:solidFill>
              </a:defRPr>
            </a:pPr>
            <a:r>
              <a:rPr dirty="0"/>
              <a:t>REST / </a:t>
            </a:r>
            <a:r>
              <a:rPr dirty="0" err="1"/>
              <a:t>GeoJSON</a:t>
            </a:r>
            <a:endParaRPr dirty="0"/>
          </a:p>
        </p:txBody>
      </p:sp>
      <p:sp>
        <p:nvSpPr>
          <p:cNvPr id="13" name="TextBox 12"/>
          <p:cNvSpPr txBox="1"/>
          <p:nvPr/>
        </p:nvSpPr>
        <p:spPr>
          <a:xfrm>
            <a:off x="731520" y="2249424"/>
            <a:ext cx="2286000" cy="3108960"/>
          </a:xfrm>
          <a:prstGeom prst="rect">
            <a:avLst/>
          </a:prstGeom>
          <a:noFill/>
        </p:spPr>
        <p:txBody>
          <a:bodyPr wrap="square">
            <a:spAutoFit/>
          </a:bodyPr>
          <a:lstStyle/>
          <a:p>
            <a:pPr>
              <a:spcBef>
                <a:spcPts val="1200"/>
              </a:spcBef>
            </a:pPr>
            <a:r>
              <a:rPr sz="1300" b="0" dirty="0">
                <a:solidFill>
                  <a:srgbClr val="334155"/>
                </a:solidFill>
              </a:rPr>
              <a:t>• NASA 30m Elevation</a:t>
            </a:r>
          </a:p>
          <a:p>
            <a:pPr>
              <a:spcBef>
                <a:spcPts val="1200"/>
              </a:spcBef>
            </a:pPr>
            <a:r>
              <a:rPr sz="1300" b="0" dirty="0">
                <a:solidFill>
                  <a:srgbClr val="334155"/>
                </a:solidFill>
              </a:rPr>
              <a:t>• Live Weather Telemetry</a:t>
            </a:r>
          </a:p>
          <a:p>
            <a:pPr>
              <a:spcBef>
                <a:spcPts val="1200"/>
              </a:spcBef>
            </a:pPr>
            <a:r>
              <a:rPr sz="1300" b="0" dirty="0">
                <a:solidFill>
                  <a:srgbClr val="334155"/>
                </a:solidFill>
              </a:rPr>
              <a:t>• GPS Coordinate Pins</a:t>
            </a:r>
          </a:p>
          <a:p>
            <a:pPr>
              <a:spcBef>
                <a:spcPts val="1200"/>
              </a:spcBef>
            </a:pPr>
            <a:r>
              <a:rPr sz="1300" b="0" dirty="0">
                <a:solidFill>
                  <a:srgbClr val="334155"/>
                </a:solidFill>
              </a:rPr>
              <a:t>• Citizen Mobile Photos</a:t>
            </a:r>
          </a:p>
        </p:txBody>
      </p:sp>
      <p:sp>
        <p:nvSpPr>
          <p:cNvPr id="14" name="Chevron 13"/>
          <p:cNvSpPr/>
          <p:nvPr/>
        </p:nvSpPr>
        <p:spPr>
          <a:xfrm>
            <a:off x="3218688" y="3108960"/>
            <a:ext cx="128016" cy="320040"/>
          </a:xfrm>
          <a:prstGeom prst="chevron">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362248" y="1188720"/>
            <a:ext cx="2651760" cy="39319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18280" y="1371600"/>
            <a:ext cx="2139696" cy="411480"/>
          </a:xfrm>
          <a:prstGeom prst="rect">
            <a:avLst/>
          </a:prstGeom>
          <a:noFill/>
        </p:spPr>
        <p:txBody>
          <a:bodyPr wrap="square" lIns="0" tIns="0" rIns="0" bIns="0">
            <a:spAutoFit/>
          </a:bodyPr>
          <a:lstStyle/>
          <a:p>
            <a:pPr>
              <a:defRPr sz="1750" b="1">
                <a:solidFill>
                  <a:srgbClr val="D97706"/>
                </a:solidFill>
              </a:defRPr>
            </a:pPr>
            <a:r>
              <a:t>STEP 2: AI Processing</a:t>
            </a:r>
          </a:p>
        </p:txBody>
      </p:sp>
      <p:sp>
        <p:nvSpPr>
          <p:cNvPr id="17" name="Rounded Rectangle 16"/>
          <p:cNvSpPr/>
          <p:nvPr/>
        </p:nvSpPr>
        <p:spPr>
          <a:xfrm>
            <a:off x="4235497" y="1755648"/>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72073" y="1819656"/>
            <a:ext cx="1645920" cy="237744"/>
          </a:xfrm>
          <a:prstGeom prst="rect">
            <a:avLst/>
          </a:prstGeom>
          <a:noFill/>
        </p:spPr>
        <p:txBody>
          <a:bodyPr wrap="none" lIns="0" tIns="0" rIns="0" bIns="0">
            <a:spAutoFit/>
          </a:bodyPr>
          <a:lstStyle/>
          <a:p>
            <a:pPr algn="ctr">
              <a:defRPr sz="1100" b="1">
                <a:solidFill>
                  <a:srgbClr val="D97706"/>
                </a:solidFill>
              </a:defRPr>
            </a:pPr>
            <a:r>
              <a:rPr dirty="0"/>
              <a:t>Scikit / </a:t>
            </a:r>
            <a:r>
              <a:rPr dirty="0" err="1"/>
              <a:t>XGBoost</a:t>
            </a:r>
            <a:endParaRPr dirty="0"/>
          </a:p>
        </p:txBody>
      </p:sp>
      <p:sp>
        <p:nvSpPr>
          <p:cNvPr id="19" name="TextBox 18"/>
          <p:cNvSpPr txBox="1"/>
          <p:nvPr/>
        </p:nvSpPr>
        <p:spPr>
          <a:xfrm>
            <a:off x="3522265" y="2263140"/>
            <a:ext cx="2286000" cy="3108960"/>
          </a:xfrm>
          <a:prstGeom prst="rect">
            <a:avLst/>
          </a:prstGeom>
          <a:noFill/>
        </p:spPr>
        <p:txBody>
          <a:bodyPr wrap="square">
            <a:spAutoFit/>
          </a:bodyPr>
          <a:lstStyle/>
          <a:p>
            <a:pPr>
              <a:spcBef>
                <a:spcPts val="1200"/>
              </a:spcBef>
            </a:pPr>
            <a:r>
              <a:rPr sz="1300" b="0" dirty="0">
                <a:solidFill>
                  <a:srgbClr val="334155"/>
                </a:solidFill>
              </a:rPr>
              <a:t>• Rainfall AI Model</a:t>
            </a:r>
          </a:p>
          <a:p>
            <a:pPr>
              <a:spcBef>
                <a:spcPts val="1200"/>
              </a:spcBef>
            </a:pPr>
            <a:r>
              <a:rPr sz="1300" b="0" dirty="0">
                <a:solidFill>
                  <a:srgbClr val="334155"/>
                </a:solidFill>
              </a:rPr>
              <a:t>• Landslide AI Regressor</a:t>
            </a:r>
          </a:p>
          <a:p>
            <a:pPr>
              <a:spcBef>
                <a:spcPts val="1200"/>
              </a:spcBef>
            </a:pPr>
            <a:r>
              <a:rPr sz="1300" b="0" dirty="0">
                <a:solidFill>
                  <a:srgbClr val="334155"/>
                </a:solidFill>
              </a:rPr>
              <a:t>• 3-Tier Photo Verification</a:t>
            </a:r>
          </a:p>
          <a:p>
            <a:pPr>
              <a:spcBef>
                <a:spcPts val="1200"/>
              </a:spcBef>
            </a:pPr>
            <a:r>
              <a:rPr sz="1300" b="0" dirty="0">
                <a:solidFill>
                  <a:srgbClr val="334155"/>
                </a:solidFill>
              </a:rPr>
              <a:t>• 48-Hour Risk Forecast</a:t>
            </a:r>
          </a:p>
        </p:txBody>
      </p:sp>
      <p:sp>
        <p:nvSpPr>
          <p:cNvPr id="20" name="Chevron 19"/>
          <p:cNvSpPr/>
          <p:nvPr/>
        </p:nvSpPr>
        <p:spPr>
          <a:xfrm>
            <a:off x="6032296" y="3108960"/>
            <a:ext cx="128016" cy="320040"/>
          </a:xfrm>
          <a:prstGeom prst="chevron">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175856" y="1188720"/>
            <a:ext cx="2651760" cy="39319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31888" y="1371600"/>
            <a:ext cx="2139696" cy="411480"/>
          </a:xfrm>
          <a:prstGeom prst="rect">
            <a:avLst/>
          </a:prstGeom>
          <a:noFill/>
        </p:spPr>
        <p:txBody>
          <a:bodyPr wrap="square" lIns="0" tIns="0" rIns="0" bIns="0">
            <a:spAutoFit/>
          </a:bodyPr>
          <a:lstStyle/>
          <a:p>
            <a:pPr>
              <a:defRPr sz="1750" b="1">
                <a:solidFill>
                  <a:srgbClr val="007AFF"/>
                </a:solidFill>
              </a:defRPr>
            </a:pPr>
            <a:r>
              <a:t>STEP 3: Database &amp; Grouping</a:t>
            </a:r>
          </a:p>
        </p:txBody>
      </p:sp>
      <p:sp>
        <p:nvSpPr>
          <p:cNvPr id="23" name="Rounded Rectangle 22"/>
          <p:cNvSpPr/>
          <p:nvPr/>
        </p:nvSpPr>
        <p:spPr>
          <a:xfrm>
            <a:off x="7071968" y="1892808"/>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071968" y="1965960"/>
            <a:ext cx="1645920" cy="237744"/>
          </a:xfrm>
          <a:prstGeom prst="rect">
            <a:avLst/>
          </a:prstGeom>
          <a:noFill/>
        </p:spPr>
        <p:txBody>
          <a:bodyPr wrap="none" lIns="0" tIns="0" rIns="0" bIns="0">
            <a:spAutoFit/>
          </a:bodyPr>
          <a:lstStyle/>
          <a:p>
            <a:pPr algn="ctr">
              <a:defRPr sz="1100" b="1">
                <a:solidFill>
                  <a:srgbClr val="007AFF"/>
                </a:solidFill>
              </a:defRPr>
            </a:pPr>
            <a:r>
              <a:rPr dirty="0"/>
              <a:t>DBSCAN / WAL</a:t>
            </a:r>
          </a:p>
        </p:txBody>
      </p:sp>
      <p:sp>
        <p:nvSpPr>
          <p:cNvPr id="25" name="TextBox 24"/>
          <p:cNvSpPr txBox="1"/>
          <p:nvPr/>
        </p:nvSpPr>
        <p:spPr>
          <a:xfrm>
            <a:off x="6431888" y="2313432"/>
            <a:ext cx="2286000" cy="3108960"/>
          </a:xfrm>
          <a:prstGeom prst="rect">
            <a:avLst/>
          </a:prstGeom>
          <a:noFill/>
        </p:spPr>
        <p:txBody>
          <a:bodyPr wrap="square">
            <a:spAutoFit/>
          </a:bodyPr>
          <a:lstStyle/>
          <a:p>
            <a:pPr>
              <a:spcBef>
                <a:spcPts val="1200"/>
              </a:spcBef>
            </a:pPr>
            <a:r>
              <a:rPr sz="1300" b="0" dirty="0">
                <a:solidFill>
                  <a:srgbClr val="334155"/>
                </a:solidFill>
              </a:rPr>
              <a:t>• Fast SQLite WAL Database</a:t>
            </a:r>
          </a:p>
          <a:p>
            <a:pPr>
              <a:spcBef>
                <a:spcPts val="1200"/>
              </a:spcBef>
            </a:pPr>
            <a:r>
              <a:rPr sz="1300" b="0" dirty="0">
                <a:solidFill>
                  <a:srgbClr val="334155"/>
                </a:solidFill>
              </a:rPr>
              <a:t>• 500m Spatial Clustering</a:t>
            </a:r>
          </a:p>
          <a:p>
            <a:pPr>
              <a:spcBef>
                <a:spcPts val="1200"/>
              </a:spcBef>
            </a:pPr>
            <a:r>
              <a:rPr sz="1300" b="0" dirty="0">
                <a:solidFill>
                  <a:srgbClr val="334155"/>
                </a:solidFill>
              </a:rPr>
              <a:t>• Relief Camp Bed Counts</a:t>
            </a:r>
          </a:p>
          <a:p>
            <a:pPr>
              <a:spcBef>
                <a:spcPts val="1200"/>
              </a:spcBef>
            </a:pPr>
            <a:r>
              <a:rPr sz="1300" b="0" dirty="0">
                <a:solidFill>
                  <a:srgbClr val="334155"/>
                </a:solidFill>
              </a:rPr>
              <a:t>• Role-Based User Security</a:t>
            </a:r>
          </a:p>
        </p:txBody>
      </p:sp>
      <p:sp>
        <p:nvSpPr>
          <p:cNvPr id="26" name="Chevron 25"/>
          <p:cNvSpPr/>
          <p:nvPr/>
        </p:nvSpPr>
        <p:spPr>
          <a:xfrm>
            <a:off x="8845904" y="3108960"/>
            <a:ext cx="128016" cy="320040"/>
          </a:xfrm>
          <a:prstGeom prst="chevron">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989464" y="1188720"/>
            <a:ext cx="2651760" cy="39319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245496" y="1371600"/>
            <a:ext cx="2139696" cy="411480"/>
          </a:xfrm>
          <a:prstGeom prst="rect">
            <a:avLst/>
          </a:prstGeom>
          <a:noFill/>
        </p:spPr>
        <p:txBody>
          <a:bodyPr wrap="square" lIns="0" tIns="0" rIns="0" bIns="0">
            <a:spAutoFit/>
          </a:bodyPr>
          <a:lstStyle/>
          <a:p>
            <a:pPr>
              <a:defRPr sz="1750" b="1">
                <a:solidFill>
                  <a:srgbClr val="10B981"/>
                </a:solidFill>
              </a:defRPr>
            </a:pPr>
            <a:r>
              <a:t>STEP 4: Action &amp; Alerts</a:t>
            </a:r>
          </a:p>
        </p:txBody>
      </p:sp>
      <p:sp>
        <p:nvSpPr>
          <p:cNvPr id="29" name="Rounded Rectangle 28"/>
          <p:cNvSpPr/>
          <p:nvPr/>
        </p:nvSpPr>
        <p:spPr>
          <a:xfrm>
            <a:off x="9822484" y="1700784"/>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95967" y="1732788"/>
            <a:ext cx="1645920" cy="237744"/>
          </a:xfrm>
          <a:prstGeom prst="rect">
            <a:avLst/>
          </a:prstGeom>
          <a:noFill/>
        </p:spPr>
        <p:txBody>
          <a:bodyPr wrap="none" lIns="0" tIns="0" rIns="0" bIns="0">
            <a:spAutoFit/>
          </a:bodyPr>
          <a:lstStyle/>
          <a:p>
            <a:pPr algn="ctr">
              <a:defRPr sz="1100" b="1">
                <a:solidFill>
                  <a:srgbClr val="10B981"/>
                </a:solidFill>
              </a:defRPr>
            </a:pPr>
            <a:r>
              <a:rPr dirty="0"/>
              <a:t>OSRM / Telegram</a:t>
            </a:r>
          </a:p>
        </p:txBody>
      </p:sp>
      <p:sp>
        <p:nvSpPr>
          <p:cNvPr id="31" name="TextBox 30"/>
          <p:cNvSpPr txBox="1"/>
          <p:nvPr/>
        </p:nvSpPr>
        <p:spPr>
          <a:xfrm>
            <a:off x="9155887" y="2395728"/>
            <a:ext cx="2286000" cy="3108960"/>
          </a:xfrm>
          <a:prstGeom prst="rect">
            <a:avLst/>
          </a:prstGeom>
          <a:noFill/>
        </p:spPr>
        <p:txBody>
          <a:bodyPr wrap="square">
            <a:spAutoFit/>
          </a:bodyPr>
          <a:lstStyle/>
          <a:p>
            <a:pPr>
              <a:spcBef>
                <a:spcPts val="1200"/>
              </a:spcBef>
            </a:pPr>
            <a:r>
              <a:rPr sz="1300" b="0" dirty="0">
                <a:solidFill>
                  <a:srgbClr val="334155"/>
                </a:solidFill>
              </a:rPr>
              <a:t>• 2 km Safe Detour Routes</a:t>
            </a:r>
          </a:p>
          <a:p>
            <a:pPr>
              <a:spcBef>
                <a:spcPts val="1200"/>
              </a:spcBef>
            </a:pPr>
            <a:r>
              <a:rPr sz="1300" b="0" dirty="0">
                <a:solidFill>
                  <a:srgbClr val="334155"/>
                </a:solidFill>
              </a:rPr>
              <a:t>• OASIS CAP Alerts</a:t>
            </a:r>
          </a:p>
          <a:p>
            <a:pPr>
              <a:spcBef>
                <a:spcPts val="1200"/>
              </a:spcBef>
            </a:pPr>
            <a:r>
              <a:rPr sz="1300" b="0" dirty="0">
                <a:solidFill>
                  <a:srgbClr val="334155"/>
                </a:solidFill>
              </a:rPr>
              <a:t>• Telegram Emergency Bot</a:t>
            </a:r>
          </a:p>
          <a:p>
            <a:pPr>
              <a:spcBef>
                <a:spcPts val="1200"/>
              </a:spcBef>
            </a:pPr>
            <a:r>
              <a:rPr sz="1300" b="0" dirty="0">
                <a:solidFill>
                  <a:srgbClr val="334155"/>
                </a:solidFill>
              </a:rPr>
              <a:t>• One-Click PDF </a:t>
            </a:r>
            <a:r>
              <a:rPr sz="1300" b="0" dirty="0" err="1">
                <a:solidFill>
                  <a:srgbClr val="334155"/>
                </a:solidFill>
              </a:rPr>
              <a:t>SitRep</a:t>
            </a:r>
            <a:endParaRPr sz="1300" b="0" dirty="0">
              <a:solidFill>
                <a:srgbClr val="334155"/>
              </a:solidFill>
            </a:endParaRPr>
          </a:p>
        </p:txBody>
      </p:sp>
      <p:sp>
        <p:nvSpPr>
          <p:cNvPr id="32" name="Rounded Rectangle 31"/>
          <p:cNvSpPr/>
          <p:nvPr/>
        </p:nvSpPr>
        <p:spPr>
          <a:xfrm>
            <a:off x="548640" y="5303520"/>
            <a:ext cx="11094415" cy="118872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2841" y="5573268"/>
            <a:ext cx="10582351" cy="960120"/>
          </a:xfrm>
          <a:prstGeom prst="rect">
            <a:avLst/>
          </a:prstGeom>
          <a:noFill/>
        </p:spPr>
        <p:txBody>
          <a:bodyPr wrap="square">
            <a:spAutoFit/>
          </a:bodyPr>
          <a:lstStyle/>
          <a:p>
            <a:pPr>
              <a:defRPr sz="1400">
                <a:solidFill>
                  <a:srgbClr val="334155"/>
                </a:solidFill>
              </a:defRPr>
            </a:pPr>
            <a:r>
              <a:rPr dirty="0"/>
              <a:t>Ultra-Fast Execution: When raw sensor readings or citizen photos enter the system, the AI models process them, recalculate safe 2 km detour routes, and dispatch warnings to Telegram and WhatsApp in less than 900 milliseconds.</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SOFTWARE ARCHITECTURE</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Technology Stack: Tools &amp; Frameworks Used</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0" y="402336"/>
            <a:ext cx="1463040" cy="310896"/>
          </a:xfrm>
          <a:prstGeom prst="rect">
            <a:avLst/>
          </a:prstGeom>
          <a:noFill/>
        </p:spPr>
        <p:txBody>
          <a:bodyPr wrap="square" lIns="0" tIns="0" rIns="0" bIns="0">
            <a:spAutoFit/>
          </a:bodyPr>
          <a:lstStyle/>
          <a:p>
            <a:pPr algn="ctr">
              <a:defRPr sz="1300" b="1">
                <a:solidFill>
                  <a:srgbClr val="007AFF"/>
                </a:solidFill>
              </a:defRPr>
            </a:pPr>
            <a:r>
              <a:rPr dirty="0"/>
              <a:t>09 / 14</a:t>
            </a:r>
          </a:p>
        </p:txBody>
      </p:sp>
      <p:sp>
        <p:nvSpPr>
          <p:cNvPr id="9" name="Rounded Rectangle 8"/>
          <p:cNvSpPr/>
          <p:nvPr/>
        </p:nvSpPr>
        <p:spPr>
          <a:xfrm>
            <a:off x="548640" y="1188720"/>
            <a:ext cx="5440680" cy="25603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4928616" cy="411480"/>
          </a:xfrm>
          <a:prstGeom prst="rect">
            <a:avLst/>
          </a:prstGeom>
          <a:noFill/>
        </p:spPr>
        <p:txBody>
          <a:bodyPr wrap="square" lIns="0" tIns="0" rIns="0" bIns="0">
            <a:spAutoFit/>
          </a:bodyPr>
          <a:lstStyle/>
          <a:p>
            <a:pPr>
              <a:defRPr sz="1750" b="1">
                <a:solidFill>
                  <a:srgbClr val="007AFF"/>
                </a:solidFill>
              </a:defRPr>
            </a:pPr>
            <a:r>
              <a:t>AI &amp; Machine Learning</a:t>
            </a:r>
          </a:p>
        </p:txBody>
      </p:sp>
      <p:sp>
        <p:nvSpPr>
          <p:cNvPr id="11" name="TextBox 10"/>
          <p:cNvSpPr txBox="1"/>
          <p:nvPr/>
        </p:nvSpPr>
        <p:spPr>
          <a:xfrm>
            <a:off x="768096" y="1691640"/>
            <a:ext cx="5001768" cy="1131079"/>
          </a:xfrm>
          <a:prstGeom prst="rect">
            <a:avLst/>
          </a:prstGeom>
          <a:noFill/>
        </p:spPr>
        <p:txBody>
          <a:bodyPr wrap="square">
            <a:spAutoFit/>
          </a:bodyPr>
          <a:lstStyle/>
          <a:p>
            <a:pPr>
              <a:spcBef>
                <a:spcPts val="700"/>
              </a:spcBef>
            </a:pPr>
            <a:r>
              <a:rPr sz="1250" b="1" dirty="0">
                <a:solidFill>
                  <a:srgbClr val="0F172A"/>
                </a:solidFill>
              </a:rPr>
              <a:t>• Scikit-Learn: </a:t>
            </a:r>
            <a:r>
              <a:rPr sz="1250" b="0" dirty="0">
                <a:solidFill>
                  <a:srgbClr val="334155"/>
                </a:solidFill>
              </a:rPr>
              <a:t>Gradient Boosting model for predicting landslide risks</a:t>
            </a:r>
          </a:p>
          <a:p>
            <a:pPr>
              <a:spcBef>
                <a:spcPts val="700"/>
              </a:spcBef>
            </a:pPr>
            <a:r>
              <a:rPr sz="1250" b="1" dirty="0">
                <a:solidFill>
                  <a:srgbClr val="0F172A"/>
                </a:solidFill>
              </a:rPr>
              <a:t>• </a:t>
            </a:r>
            <a:r>
              <a:rPr sz="1250" b="1" dirty="0" err="1">
                <a:solidFill>
                  <a:srgbClr val="0F172A"/>
                </a:solidFill>
              </a:rPr>
              <a:t>XGBoost</a:t>
            </a:r>
            <a:r>
              <a:rPr sz="1250" b="1" dirty="0">
                <a:solidFill>
                  <a:srgbClr val="0F172A"/>
                </a:solidFill>
              </a:rPr>
              <a:t>: </a:t>
            </a:r>
            <a:r>
              <a:rPr sz="1250" b="0" dirty="0">
                <a:solidFill>
                  <a:srgbClr val="334155"/>
                </a:solidFill>
              </a:rPr>
              <a:t>High-performance regressor for rainfall forecasting</a:t>
            </a:r>
          </a:p>
          <a:p>
            <a:pPr>
              <a:spcBef>
                <a:spcPts val="700"/>
              </a:spcBef>
            </a:pPr>
            <a:r>
              <a:rPr sz="1250" b="1" dirty="0">
                <a:solidFill>
                  <a:srgbClr val="0F172A"/>
                </a:solidFill>
              </a:rPr>
              <a:t>• NumPy &amp; Pandas: </a:t>
            </a:r>
            <a:r>
              <a:rPr sz="1250" b="0" dirty="0">
                <a:solidFill>
                  <a:srgbClr val="334155"/>
                </a:solidFill>
              </a:rPr>
              <a:t>Hydrological data calculations and matrix operations</a:t>
            </a:r>
          </a:p>
          <a:p>
            <a:pPr>
              <a:spcBef>
                <a:spcPts val="700"/>
              </a:spcBef>
            </a:pPr>
            <a:r>
              <a:rPr sz="1250" b="1" dirty="0">
                <a:solidFill>
                  <a:srgbClr val="0F172A"/>
                </a:solidFill>
              </a:rPr>
              <a:t>• </a:t>
            </a:r>
            <a:r>
              <a:rPr sz="1250" b="1" dirty="0" err="1">
                <a:solidFill>
                  <a:srgbClr val="0F172A"/>
                </a:solidFill>
              </a:rPr>
              <a:t>Ollama</a:t>
            </a:r>
            <a:r>
              <a:rPr sz="1250" b="1" dirty="0">
                <a:solidFill>
                  <a:srgbClr val="0F172A"/>
                </a:solidFill>
              </a:rPr>
              <a:t> / Gemini: </a:t>
            </a:r>
            <a:r>
              <a:rPr sz="1250" b="0" dirty="0">
                <a:solidFill>
                  <a:srgbClr val="334155"/>
                </a:solidFill>
              </a:rPr>
              <a:t>Multimodal vision AI for detailed verification</a:t>
            </a:r>
          </a:p>
        </p:txBody>
      </p:sp>
      <p:sp>
        <p:nvSpPr>
          <p:cNvPr id="12" name="Rounded Rectangle 11"/>
          <p:cNvSpPr/>
          <p:nvPr/>
        </p:nvSpPr>
        <p:spPr>
          <a:xfrm>
            <a:off x="6199632" y="1188720"/>
            <a:ext cx="5440680" cy="2560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1371600"/>
            <a:ext cx="4928616" cy="411480"/>
          </a:xfrm>
          <a:prstGeom prst="rect">
            <a:avLst/>
          </a:prstGeom>
          <a:noFill/>
        </p:spPr>
        <p:txBody>
          <a:bodyPr wrap="square" lIns="0" tIns="0" rIns="0" bIns="0">
            <a:spAutoFit/>
          </a:bodyPr>
          <a:lstStyle/>
          <a:p>
            <a:pPr>
              <a:defRPr sz="1750" b="1">
                <a:solidFill>
                  <a:srgbClr val="D97706"/>
                </a:solidFill>
              </a:defRPr>
            </a:pPr>
            <a:r>
              <a:t>Backend Services &amp; APIs</a:t>
            </a:r>
          </a:p>
        </p:txBody>
      </p:sp>
      <p:sp>
        <p:nvSpPr>
          <p:cNvPr id="14" name="TextBox 13"/>
          <p:cNvSpPr txBox="1"/>
          <p:nvPr/>
        </p:nvSpPr>
        <p:spPr>
          <a:xfrm>
            <a:off x="6419088" y="1691640"/>
            <a:ext cx="5001768" cy="1041311"/>
          </a:xfrm>
          <a:prstGeom prst="rect">
            <a:avLst/>
          </a:prstGeom>
          <a:noFill/>
        </p:spPr>
        <p:txBody>
          <a:bodyPr wrap="square">
            <a:spAutoFit/>
          </a:bodyPr>
          <a:lstStyle/>
          <a:p>
            <a:pPr>
              <a:spcBef>
                <a:spcPts val="700"/>
              </a:spcBef>
            </a:pPr>
            <a:r>
              <a:rPr sz="1250" b="1" dirty="0">
                <a:solidFill>
                  <a:srgbClr val="0F172A"/>
                </a:solidFill>
              </a:rPr>
              <a:t>• Python 3.11 + Flask: </a:t>
            </a:r>
            <a:r>
              <a:rPr sz="1250" b="0" dirty="0">
                <a:solidFill>
                  <a:srgbClr val="334155"/>
                </a:solidFill>
              </a:rPr>
              <a:t>Lightweight, fast microservice backend APIs</a:t>
            </a:r>
          </a:p>
          <a:p>
            <a:pPr>
              <a:spcBef>
                <a:spcPts val="700"/>
              </a:spcBef>
            </a:pPr>
            <a:r>
              <a:rPr sz="1250" b="1" dirty="0">
                <a:solidFill>
                  <a:srgbClr val="0F172A"/>
                </a:solidFill>
              </a:rPr>
              <a:t>• SQLite with WAL Mode: </a:t>
            </a:r>
            <a:r>
              <a:rPr sz="1250" b="0" dirty="0">
                <a:solidFill>
                  <a:srgbClr val="334155"/>
                </a:solidFill>
              </a:rPr>
              <a:t>High-speed concurrent database for disaster traffic</a:t>
            </a:r>
          </a:p>
          <a:p>
            <a:pPr>
              <a:spcBef>
                <a:spcPts val="700"/>
              </a:spcBef>
            </a:pPr>
            <a:r>
              <a:rPr sz="1250" b="1" dirty="0">
                <a:solidFill>
                  <a:srgbClr val="0F172A"/>
                </a:solidFill>
              </a:rPr>
              <a:t>• </a:t>
            </a:r>
            <a:r>
              <a:rPr sz="1250" b="1" dirty="0" err="1">
                <a:solidFill>
                  <a:srgbClr val="0F172A"/>
                </a:solidFill>
              </a:rPr>
              <a:t>ReportLab</a:t>
            </a:r>
            <a:r>
              <a:rPr sz="1250" b="1" dirty="0">
                <a:solidFill>
                  <a:srgbClr val="0F172A"/>
                </a:solidFill>
              </a:rPr>
              <a:t>: </a:t>
            </a:r>
            <a:r>
              <a:rPr sz="1250" b="0" dirty="0">
                <a:solidFill>
                  <a:srgbClr val="334155"/>
                </a:solidFill>
              </a:rPr>
              <a:t>Generates official PDF Situation Reports automatically</a:t>
            </a:r>
          </a:p>
        </p:txBody>
      </p:sp>
      <p:sp>
        <p:nvSpPr>
          <p:cNvPr id="15" name="Rounded Rectangle 14"/>
          <p:cNvSpPr/>
          <p:nvPr/>
        </p:nvSpPr>
        <p:spPr>
          <a:xfrm>
            <a:off x="548640" y="3931920"/>
            <a:ext cx="5440680" cy="25603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4114800"/>
            <a:ext cx="4928616" cy="411480"/>
          </a:xfrm>
          <a:prstGeom prst="rect">
            <a:avLst/>
          </a:prstGeom>
          <a:noFill/>
        </p:spPr>
        <p:txBody>
          <a:bodyPr wrap="square" lIns="0" tIns="0" rIns="0" bIns="0">
            <a:spAutoFit/>
          </a:bodyPr>
          <a:lstStyle/>
          <a:p>
            <a:pPr>
              <a:defRPr sz="1750" b="1">
                <a:solidFill>
                  <a:srgbClr val="007AFF"/>
                </a:solidFill>
              </a:defRPr>
            </a:pPr>
            <a:r>
              <a:t>Frontend &amp; Mapping Interface</a:t>
            </a:r>
          </a:p>
        </p:txBody>
      </p:sp>
      <p:sp>
        <p:nvSpPr>
          <p:cNvPr id="17" name="TextBox 16"/>
          <p:cNvSpPr txBox="1"/>
          <p:nvPr/>
        </p:nvSpPr>
        <p:spPr>
          <a:xfrm>
            <a:off x="768096" y="4434840"/>
            <a:ext cx="5001768" cy="1965960"/>
          </a:xfrm>
          <a:prstGeom prst="rect">
            <a:avLst/>
          </a:prstGeom>
          <a:noFill/>
        </p:spPr>
        <p:txBody>
          <a:bodyPr wrap="square">
            <a:spAutoFit/>
          </a:bodyPr>
          <a:lstStyle/>
          <a:p>
            <a:pPr>
              <a:spcBef>
                <a:spcPts val="700"/>
              </a:spcBef>
            </a:pPr>
            <a:r>
              <a:rPr sz="1250" b="1" dirty="0">
                <a:solidFill>
                  <a:srgbClr val="0F172A"/>
                </a:solidFill>
              </a:rPr>
              <a:t>• React 19 + Vite: </a:t>
            </a:r>
            <a:r>
              <a:rPr sz="1250" b="0" dirty="0">
                <a:solidFill>
                  <a:srgbClr val="334155"/>
                </a:solidFill>
              </a:rPr>
              <a:t>Modern, lightning-fast interactive user interface</a:t>
            </a:r>
          </a:p>
          <a:p>
            <a:pPr>
              <a:spcBef>
                <a:spcPts val="700"/>
              </a:spcBef>
            </a:pPr>
            <a:r>
              <a:rPr sz="1250" b="1" dirty="0">
                <a:solidFill>
                  <a:srgbClr val="0F172A"/>
                </a:solidFill>
              </a:rPr>
              <a:t>• Leaflet &amp; React-Leaflet: </a:t>
            </a:r>
            <a:r>
              <a:rPr sz="1250" b="0" dirty="0">
                <a:solidFill>
                  <a:srgbClr val="334155"/>
                </a:solidFill>
              </a:rPr>
              <a:t>Interactive map showing terrain layers and danger pins</a:t>
            </a:r>
          </a:p>
          <a:p>
            <a:pPr>
              <a:spcBef>
                <a:spcPts val="700"/>
              </a:spcBef>
            </a:pPr>
            <a:r>
              <a:rPr sz="1250" b="1" dirty="0">
                <a:solidFill>
                  <a:srgbClr val="0F172A"/>
                </a:solidFill>
              </a:rPr>
              <a:t>• </a:t>
            </a:r>
            <a:r>
              <a:rPr sz="1250" b="1" dirty="0" err="1">
                <a:solidFill>
                  <a:srgbClr val="0F172A"/>
                </a:solidFill>
              </a:rPr>
              <a:t>Leaflet.heat</a:t>
            </a:r>
            <a:r>
              <a:rPr sz="1250" b="1" dirty="0">
                <a:solidFill>
                  <a:srgbClr val="0F172A"/>
                </a:solidFill>
              </a:rPr>
              <a:t>: </a:t>
            </a:r>
            <a:r>
              <a:rPr sz="1250" b="0" dirty="0">
                <a:solidFill>
                  <a:srgbClr val="334155"/>
                </a:solidFill>
              </a:rPr>
              <a:t>Visual heatmaps highlighting high-risk hazard zones</a:t>
            </a:r>
          </a:p>
          <a:p>
            <a:pPr>
              <a:spcBef>
                <a:spcPts val="700"/>
              </a:spcBef>
            </a:pPr>
            <a:r>
              <a:rPr sz="1250" b="1" dirty="0">
                <a:solidFill>
                  <a:srgbClr val="0F172A"/>
                </a:solidFill>
              </a:rPr>
              <a:t>• </a:t>
            </a:r>
            <a:r>
              <a:rPr sz="1250" b="1" dirty="0" err="1">
                <a:solidFill>
                  <a:srgbClr val="0F172A"/>
                </a:solidFill>
              </a:rPr>
              <a:t>Lucide</a:t>
            </a:r>
            <a:r>
              <a:rPr sz="1250" b="1" dirty="0">
                <a:solidFill>
                  <a:srgbClr val="0F172A"/>
                </a:solidFill>
              </a:rPr>
              <a:t> React: </a:t>
            </a:r>
            <a:r>
              <a:rPr sz="1250" b="0" dirty="0">
                <a:solidFill>
                  <a:srgbClr val="334155"/>
                </a:solidFill>
              </a:rPr>
              <a:t>Clear weather and emergency iconography</a:t>
            </a:r>
            <a:endParaRPr lang="en-IN" sz="1250" b="0" dirty="0">
              <a:solidFill>
                <a:srgbClr val="334155"/>
              </a:solidFill>
            </a:endParaRPr>
          </a:p>
          <a:p>
            <a:pPr>
              <a:spcBef>
                <a:spcPts val="700"/>
              </a:spcBef>
            </a:pPr>
            <a:r>
              <a:rPr lang="en-US" sz="1250" b="1" dirty="0">
                <a:solidFill>
                  <a:srgbClr val="0F172A"/>
                </a:solidFill>
              </a:rPr>
              <a:t>• Clean </a:t>
            </a:r>
            <a:r>
              <a:rPr lang="en-US" sz="1250" b="1" dirty="0" err="1">
                <a:solidFill>
                  <a:srgbClr val="0F172A"/>
                </a:solidFill>
              </a:rPr>
              <a:t>Glassmorphism</a:t>
            </a:r>
            <a:r>
              <a:rPr lang="en-US" sz="1250" b="1" dirty="0">
                <a:solidFill>
                  <a:srgbClr val="0F172A"/>
                </a:solidFill>
              </a:rPr>
              <a:t>: </a:t>
            </a:r>
            <a:r>
              <a:rPr lang="en-US" sz="1250" b="0" dirty="0">
                <a:solidFill>
                  <a:srgbClr val="334155"/>
                </a:solidFill>
              </a:rPr>
              <a:t>High-contrast, professional light UI design system</a:t>
            </a:r>
          </a:p>
        </p:txBody>
      </p:sp>
      <p:sp>
        <p:nvSpPr>
          <p:cNvPr id="18" name="Rounded Rectangle 17"/>
          <p:cNvSpPr/>
          <p:nvPr/>
        </p:nvSpPr>
        <p:spPr>
          <a:xfrm>
            <a:off x="6199632" y="3931920"/>
            <a:ext cx="5440680" cy="25603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55664" y="4114800"/>
            <a:ext cx="4928616" cy="411480"/>
          </a:xfrm>
          <a:prstGeom prst="rect">
            <a:avLst/>
          </a:prstGeom>
          <a:noFill/>
        </p:spPr>
        <p:txBody>
          <a:bodyPr wrap="square" lIns="0" tIns="0" rIns="0" bIns="0">
            <a:spAutoFit/>
          </a:bodyPr>
          <a:lstStyle/>
          <a:p>
            <a:pPr>
              <a:defRPr sz="1750" b="1">
                <a:solidFill>
                  <a:srgbClr val="10B981"/>
                </a:solidFill>
              </a:defRPr>
            </a:pPr>
            <a:r>
              <a:t>Routing &amp; Alerting Tools</a:t>
            </a:r>
          </a:p>
        </p:txBody>
      </p:sp>
      <p:sp>
        <p:nvSpPr>
          <p:cNvPr id="20" name="TextBox 19"/>
          <p:cNvSpPr txBox="1"/>
          <p:nvPr/>
        </p:nvSpPr>
        <p:spPr>
          <a:xfrm>
            <a:off x="6419088" y="4434840"/>
            <a:ext cx="5001768" cy="1965960"/>
          </a:xfrm>
          <a:prstGeom prst="rect">
            <a:avLst/>
          </a:prstGeom>
          <a:noFill/>
        </p:spPr>
        <p:txBody>
          <a:bodyPr wrap="square">
            <a:spAutoFit/>
          </a:bodyPr>
          <a:lstStyle/>
          <a:p>
            <a:pPr>
              <a:spcBef>
                <a:spcPts val="700"/>
              </a:spcBef>
            </a:pPr>
            <a:r>
              <a:rPr sz="1250" b="1" dirty="0">
                <a:solidFill>
                  <a:srgbClr val="0F172A"/>
                </a:solidFill>
              </a:rPr>
              <a:t>• OSRM Engine: </a:t>
            </a:r>
            <a:r>
              <a:rPr sz="1250" b="0" dirty="0">
                <a:solidFill>
                  <a:srgbClr val="334155"/>
                </a:solidFill>
              </a:rPr>
              <a:t>Calculates turn-by-turn road routes with dynamic detours</a:t>
            </a:r>
          </a:p>
          <a:p>
            <a:pPr>
              <a:spcBef>
                <a:spcPts val="700"/>
              </a:spcBef>
            </a:pPr>
            <a:r>
              <a:rPr sz="1250" b="1" dirty="0">
                <a:solidFill>
                  <a:srgbClr val="0F172A"/>
                </a:solidFill>
              </a:rPr>
              <a:t>• OASIS CAP v1.2: </a:t>
            </a:r>
            <a:r>
              <a:rPr sz="1250" b="0" dirty="0">
                <a:solidFill>
                  <a:srgbClr val="334155"/>
                </a:solidFill>
              </a:rPr>
              <a:t>Global standard format for emergency disaster feeds</a:t>
            </a:r>
          </a:p>
          <a:p>
            <a:pPr>
              <a:spcBef>
                <a:spcPts val="700"/>
              </a:spcBef>
            </a:pPr>
            <a:r>
              <a:rPr sz="1250" b="1" dirty="0">
                <a:solidFill>
                  <a:srgbClr val="0F172A"/>
                </a:solidFill>
              </a:rPr>
              <a:t>• Telegram Bot API: </a:t>
            </a:r>
            <a:r>
              <a:rPr sz="1250" b="0" dirty="0">
                <a:solidFill>
                  <a:srgbClr val="334155"/>
                </a:solidFill>
              </a:rPr>
              <a:t>Free emergency channel that sends instant broadcast alerts</a:t>
            </a:r>
          </a:p>
          <a:p>
            <a:pPr>
              <a:spcBef>
                <a:spcPts val="700"/>
              </a:spcBef>
            </a:pPr>
            <a:r>
              <a:rPr sz="1250" b="1" dirty="0">
                <a:solidFill>
                  <a:srgbClr val="0F172A"/>
                </a:solidFill>
              </a:rPr>
              <a:t>• WhatsApp URL Scheme: </a:t>
            </a:r>
            <a:r>
              <a:rPr sz="1250" b="0" dirty="0">
                <a:solidFill>
                  <a:srgbClr val="334155"/>
                </a:solidFill>
              </a:rPr>
              <a:t>Coordinates local village and panchayat rescue groups</a:t>
            </a:r>
          </a:p>
          <a:p>
            <a:pPr>
              <a:spcBef>
                <a:spcPts val="700"/>
              </a:spcBef>
            </a:pPr>
            <a:r>
              <a:rPr sz="1250" b="1" dirty="0">
                <a:solidFill>
                  <a:srgbClr val="0F172A"/>
                </a:solidFill>
              </a:rPr>
              <a:t>• Twilio REST API: </a:t>
            </a:r>
            <a:r>
              <a:rPr sz="1250" b="0" dirty="0">
                <a:solidFill>
                  <a:srgbClr val="334155"/>
                </a:solidFill>
              </a:rPr>
              <a:t>Cellular SMS fallback for users without smartphones</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BENCHMARK COMPARISON</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Comparison: TerraRisk AI vs Existing Solutions</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0" y="379476"/>
            <a:ext cx="1463040" cy="310896"/>
          </a:xfrm>
          <a:prstGeom prst="rect">
            <a:avLst/>
          </a:prstGeom>
          <a:noFill/>
        </p:spPr>
        <p:txBody>
          <a:bodyPr wrap="square" lIns="0" tIns="0" rIns="0" bIns="0">
            <a:spAutoFit/>
          </a:bodyPr>
          <a:lstStyle/>
          <a:p>
            <a:pPr algn="ctr">
              <a:defRPr sz="1300" b="1">
                <a:solidFill>
                  <a:srgbClr val="007AFF"/>
                </a:solidFill>
              </a:defRPr>
            </a:pPr>
            <a:r>
              <a:rPr dirty="0"/>
              <a:t>10 / 14</a:t>
            </a:r>
          </a:p>
        </p:txBody>
      </p:sp>
      <p:graphicFrame>
        <p:nvGraphicFramePr>
          <p:cNvPr id="9" name="Table 8"/>
          <p:cNvGraphicFramePr>
            <a:graphicFrameLocks noGrp="1"/>
          </p:cNvGraphicFramePr>
          <p:nvPr/>
        </p:nvGraphicFramePr>
        <p:xfrm>
          <a:off x="548640" y="1188720"/>
          <a:ext cx="11094415" cy="356616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3139135">
                  <a:extLst>
                    <a:ext uri="{9D8B030D-6E8A-4147-A177-3AD203B41FA5}">
                      <a16:colId xmlns:a16="http://schemas.microsoft.com/office/drawing/2014/main" val="20003"/>
                    </a:ext>
                  </a:extLst>
                </a:gridCol>
              </a:tblGrid>
              <a:tr h="445770">
                <a:tc>
                  <a:txBody>
                    <a:bodyPr/>
                    <a:lstStyle/>
                    <a:p>
                      <a:pPr algn="ctr">
                        <a:defRPr sz="1250" b="1">
                          <a:solidFill>
                            <a:srgbClr val="007AFF"/>
                          </a:solidFill>
                        </a:defRPr>
                      </a:pPr>
                      <a:r>
                        <a:t>Feature Dimension</a:t>
                      </a:r>
                    </a:p>
                  </a:txBody>
                  <a:tcPr marL="109728" marR="109728" marT="73152" marB="73152" anchor="ctr">
                    <a:solidFill>
                      <a:srgbClr val="EBF5FF"/>
                    </a:solidFill>
                  </a:tcPr>
                </a:tc>
                <a:tc>
                  <a:txBody>
                    <a:bodyPr/>
                    <a:lstStyle/>
                    <a:p>
                      <a:pPr algn="ctr">
                        <a:defRPr sz="1250" b="1">
                          <a:solidFill>
                            <a:srgbClr val="007AFF"/>
                          </a:solidFill>
                        </a:defRPr>
                      </a:pPr>
                      <a:r>
                        <a:t>Old Disaster Portals</a:t>
                      </a:r>
                    </a:p>
                  </a:txBody>
                  <a:tcPr marL="109728" marR="109728" marT="73152" marB="73152" anchor="ctr">
                    <a:solidFill>
                      <a:srgbClr val="EBF5FF"/>
                    </a:solidFill>
                  </a:tcPr>
                </a:tc>
                <a:tc>
                  <a:txBody>
                    <a:bodyPr/>
                    <a:lstStyle/>
                    <a:p>
                      <a:pPr algn="ctr">
                        <a:defRPr sz="1250" b="1">
                          <a:solidFill>
                            <a:srgbClr val="007AFF"/>
                          </a:solidFill>
                        </a:defRPr>
                      </a:pPr>
                      <a:r>
                        <a:t>Google Maps</a:t>
                      </a:r>
                    </a:p>
                  </a:txBody>
                  <a:tcPr marL="109728" marR="109728" marT="73152" marB="73152" anchor="ctr">
                    <a:solidFill>
                      <a:srgbClr val="EBF5FF"/>
                    </a:solidFill>
                  </a:tcPr>
                </a:tc>
                <a:tc>
                  <a:txBody>
                    <a:bodyPr/>
                    <a:lstStyle/>
                    <a:p>
                      <a:pPr algn="ctr">
                        <a:defRPr sz="1250" b="1">
                          <a:solidFill>
                            <a:srgbClr val="007AFF"/>
                          </a:solidFill>
                        </a:defRPr>
                      </a:pPr>
                      <a:r>
                        <a:t>TerraRisk AI (Proposed)</a:t>
                      </a:r>
                    </a:p>
                  </a:txBody>
                  <a:tcPr marL="109728" marR="109728" marT="73152" marB="73152" anchor="ctr">
                    <a:solidFill>
                      <a:srgbClr val="EBF5FF"/>
                    </a:solidFill>
                  </a:tcPr>
                </a:tc>
                <a:extLst>
                  <a:ext uri="{0D108BD9-81ED-4DB2-BD59-A6C34878D82A}">
                    <a16:rowId xmlns:a16="http://schemas.microsoft.com/office/drawing/2014/main" val="10000"/>
                  </a:ext>
                </a:extLst>
              </a:tr>
              <a:tr h="445770">
                <a:tc>
                  <a:txBody>
                    <a:bodyPr/>
                    <a:lstStyle/>
                    <a:p>
                      <a:pPr>
                        <a:defRPr sz="1200" b="1">
                          <a:solidFill>
                            <a:srgbClr val="0F172A"/>
                          </a:solidFill>
                        </a:defRPr>
                      </a:pPr>
                      <a:r>
                        <a:t>Warning Detail</a:t>
                      </a:r>
                    </a:p>
                  </a:txBody>
                  <a:tcPr marL="109728" marR="109728" marT="64008" marB="64008" anchor="ctr">
                    <a:solidFill>
                      <a:srgbClr val="FFFFFF"/>
                    </a:solidFill>
                  </a:tcPr>
                </a:tc>
                <a:tc>
                  <a:txBody>
                    <a:bodyPr/>
                    <a:lstStyle/>
                    <a:p>
                      <a:pPr>
                        <a:defRPr sz="1200">
                          <a:solidFill>
                            <a:srgbClr val="334155"/>
                          </a:solidFill>
                        </a:defRPr>
                      </a:pPr>
                      <a:r>
                        <a:t>Whole District (1,000+ km²)</a:t>
                      </a:r>
                    </a:p>
                  </a:txBody>
                  <a:tcPr marL="109728" marR="109728" marT="64008" marB="64008" anchor="ctr">
                    <a:solidFill>
                      <a:srgbClr val="FFFFFF"/>
                    </a:solidFill>
                  </a:tcPr>
                </a:tc>
                <a:tc>
                  <a:txBody>
                    <a:bodyPr/>
                    <a:lstStyle/>
                    <a:p>
                      <a:pPr>
                        <a:defRPr sz="1200">
                          <a:solidFill>
                            <a:srgbClr val="334155"/>
                          </a:solidFill>
                        </a:defRPr>
                      </a:pPr>
                      <a:r>
                        <a:t>Traffic delays only</a:t>
                      </a:r>
                    </a:p>
                  </a:txBody>
                  <a:tcPr marL="109728" marR="109728" marT="64008" marB="64008" anchor="ctr">
                    <a:solidFill>
                      <a:srgbClr val="FFFFFF"/>
                    </a:solidFill>
                  </a:tcPr>
                </a:tc>
                <a:tc>
                  <a:txBody>
                    <a:bodyPr/>
                    <a:lstStyle/>
                    <a:p>
                      <a:pPr>
                        <a:defRPr sz="1200">
                          <a:solidFill>
                            <a:srgbClr val="334155"/>
                          </a:solidFill>
                        </a:defRPr>
                      </a:pPr>
                      <a:r>
                        <a:t>Exact 30m slope point</a:t>
                      </a:r>
                    </a:p>
                  </a:txBody>
                  <a:tcPr marL="109728" marR="109728" marT="64008" marB="64008" anchor="ctr">
                    <a:solidFill>
                      <a:srgbClr val="FFFFFF"/>
                    </a:solidFill>
                  </a:tcPr>
                </a:tc>
                <a:extLst>
                  <a:ext uri="{0D108BD9-81ED-4DB2-BD59-A6C34878D82A}">
                    <a16:rowId xmlns:a16="http://schemas.microsoft.com/office/drawing/2014/main" val="10001"/>
                  </a:ext>
                </a:extLst>
              </a:tr>
              <a:tr h="445770">
                <a:tc>
                  <a:txBody>
                    <a:bodyPr/>
                    <a:lstStyle/>
                    <a:p>
                      <a:pPr>
                        <a:defRPr sz="1200" b="1">
                          <a:solidFill>
                            <a:srgbClr val="0F172A"/>
                          </a:solidFill>
                        </a:defRPr>
                      </a:pPr>
                      <a:r>
                        <a:t>Slope Physics</a:t>
                      </a:r>
                    </a:p>
                  </a:txBody>
                  <a:tcPr marL="109728" marR="109728" marT="64008" marB="64008" anchor="ctr">
                    <a:solidFill>
                      <a:srgbClr val="F8FAFC"/>
                    </a:solidFill>
                  </a:tcPr>
                </a:tc>
                <a:tc>
                  <a:txBody>
                    <a:bodyPr/>
                    <a:lstStyle/>
                    <a:p>
                      <a:pPr>
                        <a:defRPr sz="1200">
                          <a:solidFill>
                            <a:srgbClr val="334155"/>
                          </a:solidFill>
                        </a:defRPr>
                      </a:pPr>
                      <a:r>
                        <a:t>Historical maps only</a:t>
                      </a:r>
                    </a:p>
                  </a:txBody>
                  <a:tcPr marL="109728" marR="109728" marT="64008" marB="64008" anchor="ctr">
                    <a:solidFill>
                      <a:srgbClr val="F8FAFC"/>
                    </a:solidFill>
                  </a:tcPr>
                </a:tc>
                <a:tc>
                  <a:txBody>
                    <a:bodyPr/>
                    <a:lstStyle/>
                    <a:p>
                      <a:pPr>
                        <a:defRPr sz="1200">
                          <a:solidFill>
                            <a:srgbClr val="334155"/>
                          </a:solidFill>
                        </a:defRPr>
                      </a:pPr>
                      <a:r>
                        <a:t>None</a:t>
                      </a:r>
                    </a:p>
                  </a:txBody>
                  <a:tcPr marL="109728" marR="109728" marT="64008" marB="64008" anchor="ctr">
                    <a:solidFill>
                      <a:srgbClr val="F8FAFC"/>
                    </a:solidFill>
                  </a:tcPr>
                </a:tc>
                <a:tc>
                  <a:txBody>
                    <a:bodyPr/>
                    <a:lstStyle/>
                    <a:p>
                      <a:pPr>
                        <a:defRPr sz="1200">
                          <a:solidFill>
                            <a:srgbClr val="334155"/>
                          </a:solidFill>
                        </a:defRPr>
                      </a:pPr>
                      <a:r>
                        <a:t>Slope, Rain, Soil, Moisture</a:t>
                      </a:r>
                    </a:p>
                  </a:txBody>
                  <a:tcPr marL="109728" marR="109728" marT="64008" marB="64008" anchor="ctr">
                    <a:solidFill>
                      <a:srgbClr val="F8FAFC"/>
                    </a:solidFill>
                  </a:tcPr>
                </a:tc>
                <a:extLst>
                  <a:ext uri="{0D108BD9-81ED-4DB2-BD59-A6C34878D82A}">
                    <a16:rowId xmlns:a16="http://schemas.microsoft.com/office/drawing/2014/main" val="10002"/>
                  </a:ext>
                </a:extLst>
              </a:tr>
              <a:tr h="445770">
                <a:tc>
                  <a:txBody>
                    <a:bodyPr/>
                    <a:lstStyle/>
                    <a:p>
                      <a:pPr>
                        <a:defRPr sz="1200" b="1">
                          <a:solidFill>
                            <a:srgbClr val="0F172A"/>
                          </a:solidFill>
                        </a:defRPr>
                      </a:pPr>
                      <a:r>
                        <a:t>Photo Verification</a:t>
                      </a:r>
                    </a:p>
                  </a:txBody>
                  <a:tcPr marL="109728" marR="109728" marT="64008" marB="64008" anchor="ctr">
                    <a:solidFill>
                      <a:srgbClr val="FFFFFF"/>
                    </a:solidFill>
                  </a:tcPr>
                </a:tc>
                <a:tc>
                  <a:txBody>
                    <a:bodyPr/>
                    <a:lstStyle/>
                    <a:p>
                      <a:pPr>
                        <a:defRPr sz="1200">
                          <a:solidFill>
                            <a:srgbClr val="334155"/>
                          </a:solidFill>
                        </a:defRPr>
                      </a:pPr>
                      <a:r>
                        <a:t>Manual (takes hours)</a:t>
                      </a:r>
                    </a:p>
                  </a:txBody>
                  <a:tcPr marL="109728" marR="109728" marT="64008" marB="64008" anchor="ctr">
                    <a:solidFill>
                      <a:srgbClr val="FFFFFF"/>
                    </a:solidFill>
                  </a:tcPr>
                </a:tc>
                <a:tc>
                  <a:txBody>
                    <a:bodyPr/>
                    <a:lstStyle/>
                    <a:p>
                      <a:pPr>
                        <a:defRPr sz="1200">
                          <a:solidFill>
                            <a:srgbClr val="334155"/>
                          </a:solidFill>
                        </a:defRPr>
                      </a:pPr>
                      <a:r>
                        <a:t>None</a:t>
                      </a:r>
                    </a:p>
                  </a:txBody>
                  <a:tcPr marL="109728" marR="109728" marT="64008" marB="64008" anchor="ctr">
                    <a:solidFill>
                      <a:srgbClr val="FFFFFF"/>
                    </a:solidFill>
                  </a:tcPr>
                </a:tc>
                <a:tc>
                  <a:txBody>
                    <a:bodyPr/>
                    <a:lstStyle/>
                    <a:p>
                      <a:pPr>
                        <a:defRPr sz="1200">
                          <a:solidFill>
                            <a:srgbClr val="334155"/>
                          </a:solidFill>
                        </a:defRPr>
                      </a:pPr>
                      <a:r>
                        <a:t>3-Tier AI in &lt;600ms</a:t>
                      </a:r>
                    </a:p>
                  </a:txBody>
                  <a:tcPr marL="109728" marR="109728" marT="64008" marB="64008" anchor="ctr">
                    <a:solidFill>
                      <a:srgbClr val="FFFFFF"/>
                    </a:solidFill>
                  </a:tcPr>
                </a:tc>
                <a:extLst>
                  <a:ext uri="{0D108BD9-81ED-4DB2-BD59-A6C34878D82A}">
                    <a16:rowId xmlns:a16="http://schemas.microsoft.com/office/drawing/2014/main" val="10003"/>
                  </a:ext>
                </a:extLst>
              </a:tr>
              <a:tr h="445770">
                <a:tc>
                  <a:txBody>
                    <a:bodyPr/>
                    <a:lstStyle/>
                    <a:p>
                      <a:pPr>
                        <a:defRPr sz="1200" b="1">
                          <a:solidFill>
                            <a:srgbClr val="0F172A"/>
                          </a:solidFill>
                        </a:defRPr>
                      </a:pPr>
                      <a:r>
                        <a:t>Evacuation Route</a:t>
                      </a:r>
                    </a:p>
                  </a:txBody>
                  <a:tcPr marL="109728" marR="109728" marT="64008" marB="64008" anchor="ctr">
                    <a:solidFill>
                      <a:srgbClr val="F8FAFC"/>
                    </a:solidFill>
                  </a:tcPr>
                </a:tc>
                <a:tc>
                  <a:txBody>
                    <a:bodyPr/>
                    <a:lstStyle/>
                    <a:p>
                      <a:pPr>
                        <a:defRPr sz="1200">
                          <a:solidFill>
                            <a:srgbClr val="334155"/>
                          </a:solidFill>
                        </a:defRPr>
                      </a:pPr>
                      <a:r>
                        <a:t>Static list of shelters</a:t>
                      </a:r>
                    </a:p>
                  </a:txBody>
                  <a:tcPr marL="109728" marR="109728" marT="64008" marB="64008" anchor="ctr">
                    <a:solidFill>
                      <a:srgbClr val="F8FAFC"/>
                    </a:solidFill>
                  </a:tcPr>
                </a:tc>
                <a:tc>
                  <a:txBody>
                    <a:bodyPr/>
                    <a:lstStyle/>
                    <a:p>
                      <a:pPr>
                        <a:defRPr sz="1200">
                          <a:solidFill>
                            <a:srgbClr val="334155"/>
                          </a:solidFill>
                        </a:defRPr>
                      </a:pPr>
                      <a:r>
                        <a:t>Shortest path (crosses landslides)</a:t>
                      </a:r>
                    </a:p>
                  </a:txBody>
                  <a:tcPr marL="109728" marR="109728" marT="64008" marB="64008" anchor="ctr">
                    <a:solidFill>
                      <a:srgbClr val="F8FAFC"/>
                    </a:solidFill>
                  </a:tcPr>
                </a:tc>
                <a:tc>
                  <a:txBody>
                    <a:bodyPr/>
                    <a:lstStyle/>
                    <a:p>
                      <a:pPr>
                        <a:defRPr sz="1200">
                          <a:solidFill>
                            <a:srgbClr val="334155"/>
                          </a:solidFill>
                        </a:defRPr>
                      </a:pPr>
                      <a:r>
                        <a:t>Dynamic 2 km danger detour</a:t>
                      </a:r>
                    </a:p>
                  </a:txBody>
                  <a:tcPr marL="109728" marR="109728" marT="64008" marB="64008" anchor="ctr">
                    <a:solidFill>
                      <a:srgbClr val="F8FAFC"/>
                    </a:solidFill>
                  </a:tcPr>
                </a:tc>
                <a:extLst>
                  <a:ext uri="{0D108BD9-81ED-4DB2-BD59-A6C34878D82A}">
                    <a16:rowId xmlns:a16="http://schemas.microsoft.com/office/drawing/2014/main" val="10004"/>
                  </a:ext>
                </a:extLst>
              </a:tr>
              <a:tr h="445770">
                <a:tc>
                  <a:txBody>
                    <a:bodyPr/>
                    <a:lstStyle/>
                    <a:p>
                      <a:pPr>
                        <a:defRPr sz="1200" b="1">
                          <a:solidFill>
                            <a:srgbClr val="0F172A"/>
                          </a:solidFill>
                        </a:defRPr>
                      </a:pPr>
                      <a:r>
                        <a:t>Report Grouping</a:t>
                      </a:r>
                    </a:p>
                  </a:txBody>
                  <a:tcPr marL="109728" marR="109728" marT="64008" marB="64008" anchor="ctr">
                    <a:solidFill>
                      <a:srgbClr val="FFFFFF"/>
                    </a:solidFill>
                  </a:tcPr>
                </a:tc>
                <a:tc>
                  <a:txBody>
                    <a:bodyPr/>
                    <a:lstStyle/>
                    <a:p>
                      <a:pPr>
                        <a:defRPr sz="1200">
                          <a:solidFill>
                            <a:srgbClr val="334155"/>
                          </a:solidFill>
                        </a:defRPr>
                      </a:pPr>
                      <a:r>
                        <a:t>Manual phone logs</a:t>
                      </a:r>
                    </a:p>
                  </a:txBody>
                  <a:tcPr marL="109728" marR="109728" marT="64008" marB="64008" anchor="ctr">
                    <a:solidFill>
                      <a:srgbClr val="FFFFFF"/>
                    </a:solidFill>
                  </a:tcPr>
                </a:tc>
                <a:tc>
                  <a:txBody>
                    <a:bodyPr/>
                    <a:lstStyle/>
                    <a:p>
                      <a:pPr>
                        <a:defRPr sz="1200">
                          <a:solidFill>
                            <a:srgbClr val="334155"/>
                          </a:solidFill>
                        </a:defRPr>
                      </a:pPr>
                      <a:r>
                        <a:t>Traffic heuristics</a:t>
                      </a:r>
                    </a:p>
                  </a:txBody>
                  <a:tcPr marL="109728" marR="109728" marT="64008" marB="64008" anchor="ctr">
                    <a:solidFill>
                      <a:srgbClr val="FFFFFF"/>
                    </a:solidFill>
                  </a:tcPr>
                </a:tc>
                <a:tc>
                  <a:txBody>
                    <a:bodyPr/>
                    <a:lstStyle/>
                    <a:p>
                      <a:pPr>
                        <a:defRPr sz="1200">
                          <a:solidFill>
                            <a:srgbClr val="334155"/>
                          </a:solidFill>
                        </a:defRPr>
                      </a:pPr>
                      <a:r>
                        <a:t>Auto-groups within 500m</a:t>
                      </a:r>
                    </a:p>
                  </a:txBody>
                  <a:tcPr marL="109728" marR="109728" marT="64008" marB="64008" anchor="ctr">
                    <a:solidFill>
                      <a:srgbClr val="FFFFFF"/>
                    </a:solidFill>
                  </a:tcPr>
                </a:tc>
                <a:extLst>
                  <a:ext uri="{0D108BD9-81ED-4DB2-BD59-A6C34878D82A}">
                    <a16:rowId xmlns:a16="http://schemas.microsoft.com/office/drawing/2014/main" val="10005"/>
                  </a:ext>
                </a:extLst>
              </a:tr>
              <a:tr h="445770">
                <a:tc>
                  <a:txBody>
                    <a:bodyPr/>
                    <a:lstStyle/>
                    <a:p>
                      <a:pPr>
                        <a:defRPr sz="1200" b="1">
                          <a:solidFill>
                            <a:srgbClr val="0F172A"/>
                          </a:solidFill>
                        </a:defRPr>
                      </a:pPr>
                      <a:r>
                        <a:t>Broadcast Cost</a:t>
                      </a:r>
                    </a:p>
                  </a:txBody>
                  <a:tcPr marL="109728" marR="109728" marT="64008" marB="64008" anchor="ctr">
                    <a:solidFill>
                      <a:srgbClr val="F8FAFC"/>
                    </a:solidFill>
                  </a:tcPr>
                </a:tc>
                <a:tc>
                  <a:txBody>
                    <a:bodyPr/>
                    <a:lstStyle/>
                    <a:p>
                      <a:pPr>
                        <a:defRPr sz="1200">
                          <a:solidFill>
                            <a:srgbClr val="334155"/>
                          </a:solidFill>
                        </a:defRPr>
                      </a:pPr>
                      <a:r>
                        <a:t>Expensive bulk SMS</a:t>
                      </a:r>
                    </a:p>
                  </a:txBody>
                  <a:tcPr marL="109728" marR="109728" marT="64008" marB="64008" anchor="ctr">
                    <a:solidFill>
                      <a:srgbClr val="F8FAFC"/>
                    </a:solidFill>
                  </a:tcPr>
                </a:tc>
                <a:tc>
                  <a:txBody>
                    <a:bodyPr/>
                    <a:lstStyle/>
                    <a:p>
                      <a:pPr>
                        <a:defRPr sz="1200">
                          <a:solidFill>
                            <a:srgbClr val="334155"/>
                          </a:solidFill>
                        </a:defRPr>
                      </a:pPr>
                      <a:r>
                        <a:t>App notifications</a:t>
                      </a:r>
                    </a:p>
                  </a:txBody>
                  <a:tcPr marL="109728" marR="109728" marT="64008" marB="64008" anchor="ctr">
                    <a:solidFill>
                      <a:srgbClr val="F8FAFC"/>
                    </a:solidFill>
                  </a:tcPr>
                </a:tc>
                <a:tc>
                  <a:txBody>
                    <a:bodyPr/>
                    <a:lstStyle/>
                    <a:p>
                      <a:pPr>
                        <a:defRPr sz="1200">
                          <a:solidFill>
                            <a:srgbClr val="334155"/>
                          </a:solidFill>
                        </a:defRPr>
                      </a:pPr>
                      <a:r>
                        <a:t>Free Telegram + WhatsApp + CAP</a:t>
                      </a:r>
                    </a:p>
                  </a:txBody>
                  <a:tcPr marL="109728" marR="109728" marT="64008" marB="64008" anchor="ctr">
                    <a:solidFill>
                      <a:srgbClr val="F8FAFC"/>
                    </a:solidFill>
                  </a:tcPr>
                </a:tc>
                <a:extLst>
                  <a:ext uri="{0D108BD9-81ED-4DB2-BD59-A6C34878D82A}">
                    <a16:rowId xmlns:a16="http://schemas.microsoft.com/office/drawing/2014/main" val="10006"/>
                  </a:ext>
                </a:extLst>
              </a:tr>
              <a:tr h="445770">
                <a:tc>
                  <a:txBody>
                    <a:bodyPr/>
                    <a:lstStyle/>
                    <a:p>
                      <a:pPr>
                        <a:defRPr sz="1200" b="1">
                          <a:solidFill>
                            <a:srgbClr val="0F172A"/>
                          </a:solidFill>
                        </a:defRPr>
                      </a:pPr>
                      <a:r>
                        <a:t>SitRep Reports</a:t>
                      </a:r>
                    </a:p>
                  </a:txBody>
                  <a:tcPr marL="109728" marR="109728" marT="64008" marB="64008" anchor="ctr">
                    <a:solidFill>
                      <a:srgbClr val="FFFFFF"/>
                    </a:solidFill>
                  </a:tcPr>
                </a:tc>
                <a:tc>
                  <a:txBody>
                    <a:bodyPr/>
                    <a:lstStyle/>
                    <a:p>
                      <a:pPr>
                        <a:defRPr sz="1200">
                          <a:solidFill>
                            <a:srgbClr val="334155"/>
                          </a:solidFill>
                        </a:defRPr>
                      </a:pPr>
                      <a:r>
                        <a:t>Manual paper (24h delay)</a:t>
                      </a:r>
                    </a:p>
                  </a:txBody>
                  <a:tcPr marL="109728" marR="109728" marT="64008" marB="64008" anchor="ctr">
                    <a:solidFill>
                      <a:srgbClr val="FFFFFF"/>
                    </a:solidFill>
                  </a:tcPr>
                </a:tc>
                <a:tc>
                  <a:txBody>
                    <a:bodyPr/>
                    <a:lstStyle/>
                    <a:p>
                      <a:pPr>
                        <a:defRPr sz="1200">
                          <a:solidFill>
                            <a:srgbClr val="334155"/>
                          </a:solidFill>
                        </a:defRPr>
                      </a:pPr>
                      <a:r>
                        <a:t>None</a:t>
                      </a:r>
                    </a:p>
                  </a:txBody>
                  <a:tcPr marL="109728" marR="109728" marT="64008" marB="64008" anchor="ctr">
                    <a:solidFill>
                      <a:srgbClr val="FFFFFF"/>
                    </a:solidFill>
                  </a:tcPr>
                </a:tc>
                <a:tc>
                  <a:txBody>
                    <a:bodyPr/>
                    <a:lstStyle/>
                    <a:p>
                      <a:pPr>
                        <a:defRPr sz="1200">
                          <a:solidFill>
                            <a:srgbClr val="334155"/>
                          </a:solidFill>
                        </a:defRPr>
                      </a:pPr>
                      <a:r>
                        <a:t>One-click instant PDF</a:t>
                      </a:r>
                    </a:p>
                  </a:txBody>
                  <a:tcPr marL="109728" marR="109728" marT="64008" marB="6400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548640" y="4892040"/>
            <a:ext cx="11094415" cy="1600200"/>
          </a:xfrm>
          <a:prstGeom prst="roundRect">
            <a:avLst/>
          </a:prstGeom>
          <a:solidFill>
            <a:srgbClr val="F0F7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5074920"/>
            <a:ext cx="10582351" cy="411480"/>
          </a:xfrm>
          <a:prstGeom prst="rect">
            <a:avLst/>
          </a:prstGeom>
          <a:noFill/>
        </p:spPr>
        <p:txBody>
          <a:bodyPr wrap="square" lIns="0" tIns="0" rIns="0" bIns="0">
            <a:spAutoFit/>
          </a:bodyPr>
          <a:lstStyle/>
          <a:p>
            <a:pPr>
              <a:defRPr sz="1750" b="1">
                <a:solidFill>
                  <a:srgbClr val="007AFF"/>
                </a:solidFill>
              </a:defRPr>
            </a:pPr>
            <a:r>
              <a:t>Design Trade-Off: Safety First</a:t>
            </a:r>
          </a:p>
        </p:txBody>
      </p:sp>
      <p:sp>
        <p:nvSpPr>
          <p:cNvPr id="12" name="TextBox 11"/>
          <p:cNvSpPr txBox="1"/>
          <p:nvPr/>
        </p:nvSpPr>
        <p:spPr>
          <a:xfrm>
            <a:off x="731520" y="5417820"/>
            <a:ext cx="10582351" cy="1143000"/>
          </a:xfrm>
          <a:prstGeom prst="rect">
            <a:avLst/>
          </a:prstGeom>
          <a:noFill/>
        </p:spPr>
        <p:txBody>
          <a:bodyPr wrap="square">
            <a:spAutoFit/>
          </a:bodyPr>
          <a:lstStyle/>
          <a:p>
            <a:pPr>
              <a:defRPr sz="1350">
                <a:solidFill>
                  <a:srgbClr val="334155"/>
                </a:solidFill>
              </a:defRPr>
            </a:pPr>
            <a:r>
              <a:rPr dirty="0"/>
              <a:t>Design Decision: Normal navigation apps always pick the fastest travel time. During a disaster, this is deadly because the fastest road often crosses an active landslide. </a:t>
            </a:r>
            <a:r>
              <a:rPr dirty="0" err="1"/>
              <a:t>TerraRisk</a:t>
            </a:r>
            <a:r>
              <a:rPr dirty="0"/>
              <a:t> AI prioritizes human life over speed: by enforcing a mandatory 2.0 km buffer around all red danger zones, vehicles are safely steered through verified clear roads.</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SUMMARY &amp; IMPACT</a:t>
            </a:r>
          </a:p>
        </p:txBody>
      </p:sp>
      <p:sp>
        <p:nvSpPr>
          <p:cNvPr id="6" name="TextBox 5"/>
          <p:cNvSpPr txBox="1"/>
          <p:nvPr/>
        </p:nvSpPr>
        <p:spPr>
          <a:xfrm>
            <a:off x="548640" y="347472"/>
            <a:ext cx="9601200" cy="430887"/>
          </a:xfrm>
          <a:prstGeom prst="rect">
            <a:avLst/>
          </a:prstGeom>
          <a:noFill/>
        </p:spPr>
        <p:txBody>
          <a:bodyPr wrap="square" lIns="0" tIns="0" rIns="0" bIns="0">
            <a:spAutoFit/>
          </a:bodyPr>
          <a:lstStyle/>
          <a:p>
            <a:pPr>
              <a:defRPr sz="2800" b="1">
                <a:solidFill>
                  <a:srgbClr val="0F172A"/>
                </a:solidFill>
              </a:defRPr>
            </a:pPr>
            <a:r>
              <a:rPr dirty="0"/>
              <a:t>Conclusion</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0" y="411480"/>
            <a:ext cx="1463040" cy="310896"/>
          </a:xfrm>
          <a:prstGeom prst="rect">
            <a:avLst/>
          </a:prstGeom>
          <a:noFill/>
        </p:spPr>
        <p:txBody>
          <a:bodyPr wrap="square" lIns="0" tIns="0" rIns="0" bIns="0">
            <a:spAutoFit/>
          </a:bodyPr>
          <a:lstStyle/>
          <a:p>
            <a:pPr algn="ctr">
              <a:defRPr sz="1300" b="1">
                <a:solidFill>
                  <a:srgbClr val="007AFF"/>
                </a:solidFill>
              </a:defRPr>
            </a:pPr>
            <a:r>
              <a:rPr dirty="0"/>
              <a:t>11 / 14</a:t>
            </a:r>
          </a:p>
        </p:txBody>
      </p:sp>
      <p:sp>
        <p:nvSpPr>
          <p:cNvPr id="9" name="Rounded Rectangle 8"/>
          <p:cNvSpPr/>
          <p:nvPr/>
        </p:nvSpPr>
        <p:spPr>
          <a:xfrm>
            <a:off x="548640" y="1188720"/>
            <a:ext cx="5440680" cy="53035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499616"/>
            <a:ext cx="4928616" cy="269304"/>
          </a:xfrm>
          <a:prstGeom prst="rect">
            <a:avLst/>
          </a:prstGeom>
          <a:noFill/>
        </p:spPr>
        <p:txBody>
          <a:bodyPr wrap="square" lIns="0" tIns="0" rIns="0" bIns="0">
            <a:spAutoFit/>
          </a:bodyPr>
          <a:lstStyle/>
          <a:p>
            <a:pPr>
              <a:defRPr sz="1750" b="1">
                <a:solidFill>
                  <a:srgbClr val="007AFF"/>
                </a:solidFill>
              </a:defRPr>
            </a:pPr>
            <a:r>
              <a:rPr lang="en-IN" dirty="0"/>
              <a:t>AI </a:t>
            </a:r>
            <a:r>
              <a:rPr dirty="0"/>
              <a:t>Contributions</a:t>
            </a:r>
          </a:p>
        </p:txBody>
      </p:sp>
      <p:sp>
        <p:nvSpPr>
          <p:cNvPr id="11" name="Rounded Rectangle 10"/>
          <p:cNvSpPr/>
          <p:nvPr/>
        </p:nvSpPr>
        <p:spPr>
          <a:xfrm>
            <a:off x="4117543" y="1828800"/>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105656" y="1883664"/>
            <a:ext cx="1645920" cy="237744"/>
          </a:xfrm>
          <a:prstGeom prst="rect">
            <a:avLst/>
          </a:prstGeom>
          <a:noFill/>
        </p:spPr>
        <p:txBody>
          <a:bodyPr wrap="none" lIns="0" tIns="0" rIns="0" bIns="0">
            <a:spAutoFit/>
          </a:bodyPr>
          <a:lstStyle/>
          <a:p>
            <a:pPr algn="ctr">
              <a:defRPr sz="1100" b="1">
                <a:solidFill>
                  <a:srgbClr val="007AFF"/>
                </a:solidFill>
              </a:defRPr>
            </a:pPr>
            <a:r>
              <a:rPr dirty="0"/>
              <a:t>ACADEMIC</a:t>
            </a:r>
          </a:p>
        </p:txBody>
      </p:sp>
      <p:sp>
        <p:nvSpPr>
          <p:cNvPr id="13" name="TextBox 12"/>
          <p:cNvSpPr txBox="1"/>
          <p:nvPr/>
        </p:nvSpPr>
        <p:spPr>
          <a:xfrm>
            <a:off x="763524" y="2240280"/>
            <a:ext cx="4928616" cy="2887970"/>
          </a:xfrm>
          <a:prstGeom prst="rect">
            <a:avLst/>
          </a:prstGeom>
          <a:noFill/>
        </p:spPr>
        <p:txBody>
          <a:bodyPr wrap="square">
            <a:spAutoFit/>
          </a:bodyPr>
          <a:lstStyle/>
          <a:p>
            <a:pPr>
              <a:spcBef>
                <a:spcPts val="2200"/>
              </a:spcBef>
            </a:pPr>
            <a:r>
              <a:rPr sz="1450" b="1" dirty="0">
                <a:solidFill>
                  <a:srgbClr val="0F172A"/>
                </a:solidFill>
              </a:rPr>
              <a:t>• Proved Physics + AI Works: </a:t>
            </a:r>
            <a:r>
              <a:rPr sz="1450" b="0" dirty="0">
                <a:solidFill>
                  <a:srgbClr val="334155"/>
                </a:solidFill>
              </a:rPr>
              <a:t>Combining slope mechanics with gradient boosting achieved an R² score of 9</a:t>
            </a:r>
            <a:r>
              <a:rPr lang="en-IN" sz="1450" b="0" dirty="0">
                <a:solidFill>
                  <a:srgbClr val="334155"/>
                </a:solidFill>
              </a:rPr>
              <a:t>9</a:t>
            </a:r>
            <a:r>
              <a:rPr sz="1450" b="0" dirty="0">
                <a:solidFill>
                  <a:srgbClr val="334155"/>
                </a:solidFill>
              </a:rPr>
              <a:t>.4</a:t>
            </a:r>
            <a:r>
              <a:rPr lang="en-IN" sz="1450" b="0" dirty="0">
                <a:solidFill>
                  <a:srgbClr val="334155"/>
                </a:solidFill>
              </a:rPr>
              <a:t>8</a:t>
            </a:r>
            <a:r>
              <a:rPr sz="1450" b="0" dirty="0">
                <a:solidFill>
                  <a:srgbClr val="334155"/>
                </a:solidFill>
              </a:rPr>
              <a:t>%, far outperforming traditional</a:t>
            </a:r>
            <a:r>
              <a:rPr lang="en-IN" sz="1450" b="0" dirty="0">
                <a:solidFill>
                  <a:srgbClr val="334155"/>
                </a:solidFill>
              </a:rPr>
              <a:t> systems</a:t>
            </a:r>
            <a:r>
              <a:rPr sz="1450" b="0" dirty="0">
                <a:solidFill>
                  <a:srgbClr val="334155"/>
                </a:solidFill>
              </a:rPr>
              <a:t>.</a:t>
            </a:r>
          </a:p>
          <a:p>
            <a:pPr>
              <a:spcBef>
                <a:spcPts val="2200"/>
              </a:spcBef>
            </a:pPr>
            <a:r>
              <a:rPr sz="1450" b="1" dirty="0">
                <a:solidFill>
                  <a:srgbClr val="0F172A"/>
                </a:solidFill>
              </a:rPr>
              <a:t>• Sub-Second Photo Triage: </a:t>
            </a:r>
            <a:r>
              <a:rPr sz="1450" b="0" dirty="0">
                <a:solidFill>
                  <a:srgbClr val="334155"/>
                </a:solidFill>
              </a:rPr>
              <a:t>Proved that local edge texture checks combined with vision models drop verification time from hours to under 600ms while removing 86.4% of false reports.</a:t>
            </a:r>
          </a:p>
          <a:p>
            <a:pPr>
              <a:spcBef>
                <a:spcPts val="2200"/>
              </a:spcBef>
            </a:pPr>
            <a:r>
              <a:rPr sz="1450" b="1" dirty="0">
                <a:solidFill>
                  <a:srgbClr val="0F172A"/>
                </a:solidFill>
              </a:rPr>
              <a:t>• Smarter Crowd Triage: </a:t>
            </a:r>
            <a:r>
              <a:rPr sz="1450" b="0" dirty="0">
                <a:solidFill>
                  <a:srgbClr val="334155"/>
                </a:solidFill>
              </a:rPr>
              <a:t>Proved that grouping reports within 500m eliminates duplicate rescue dispatches during intense storms.</a:t>
            </a:r>
          </a:p>
        </p:txBody>
      </p:sp>
      <p:sp>
        <p:nvSpPr>
          <p:cNvPr id="14" name="Rounded Rectangle 13"/>
          <p:cNvSpPr/>
          <p:nvPr/>
        </p:nvSpPr>
        <p:spPr>
          <a:xfrm>
            <a:off x="6199632" y="1188720"/>
            <a:ext cx="5440680" cy="53035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55664" y="1668780"/>
            <a:ext cx="4928616" cy="411480"/>
          </a:xfrm>
          <a:prstGeom prst="rect">
            <a:avLst/>
          </a:prstGeom>
          <a:noFill/>
        </p:spPr>
        <p:txBody>
          <a:bodyPr wrap="square" lIns="0" tIns="0" rIns="0" bIns="0">
            <a:spAutoFit/>
          </a:bodyPr>
          <a:lstStyle/>
          <a:p>
            <a:pPr>
              <a:defRPr sz="1750" b="1">
                <a:solidFill>
                  <a:srgbClr val="10B981"/>
                </a:solidFill>
              </a:defRPr>
            </a:pPr>
            <a:r>
              <a:rPr dirty="0"/>
              <a:t>Real-World Societal Benefits</a:t>
            </a:r>
          </a:p>
        </p:txBody>
      </p:sp>
      <p:sp>
        <p:nvSpPr>
          <p:cNvPr id="16" name="Rounded Rectangle 15"/>
          <p:cNvSpPr/>
          <p:nvPr/>
        </p:nvSpPr>
        <p:spPr>
          <a:xfrm>
            <a:off x="9512503" y="1883664"/>
            <a:ext cx="1645920" cy="292608"/>
          </a:xfrm>
          <a:prstGeom prst="roundRect">
            <a:avLst/>
          </a:prstGeom>
          <a:solidFill>
            <a:srgbClr val="F0F7FF"/>
          </a:solidFill>
          <a:ln w="1016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24390" y="1952244"/>
            <a:ext cx="1645920" cy="237744"/>
          </a:xfrm>
          <a:prstGeom prst="rect">
            <a:avLst/>
          </a:prstGeom>
          <a:noFill/>
        </p:spPr>
        <p:txBody>
          <a:bodyPr wrap="none" lIns="0" tIns="0" rIns="0" bIns="0">
            <a:spAutoFit/>
          </a:bodyPr>
          <a:lstStyle/>
          <a:p>
            <a:pPr algn="ctr">
              <a:defRPr sz="1100" b="1">
                <a:solidFill>
                  <a:srgbClr val="10B981"/>
                </a:solidFill>
              </a:defRPr>
            </a:pPr>
            <a:r>
              <a:rPr dirty="0"/>
              <a:t>SOCIETAL IMPACT</a:t>
            </a:r>
          </a:p>
        </p:txBody>
      </p:sp>
      <p:sp>
        <p:nvSpPr>
          <p:cNvPr id="18" name="TextBox 17"/>
          <p:cNvSpPr txBox="1"/>
          <p:nvPr/>
        </p:nvSpPr>
        <p:spPr>
          <a:xfrm>
            <a:off x="6455664" y="2487168"/>
            <a:ext cx="4928616" cy="4480560"/>
          </a:xfrm>
          <a:prstGeom prst="rect">
            <a:avLst/>
          </a:prstGeom>
          <a:noFill/>
        </p:spPr>
        <p:txBody>
          <a:bodyPr wrap="square">
            <a:spAutoFit/>
          </a:bodyPr>
          <a:lstStyle/>
          <a:p>
            <a:pPr>
              <a:spcBef>
                <a:spcPts val="2200"/>
              </a:spcBef>
            </a:pPr>
            <a:r>
              <a:rPr sz="1450" b="1" dirty="0">
                <a:solidFill>
                  <a:srgbClr val="0F172A"/>
                </a:solidFill>
              </a:rPr>
              <a:t>• Free Alerts for Communities: </a:t>
            </a:r>
            <a:r>
              <a:rPr sz="1450" b="0" dirty="0">
                <a:solidFill>
                  <a:srgbClr val="334155"/>
                </a:solidFill>
              </a:rPr>
              <a:t>Replaced costly bulk SMS with Telegram and WhatsApp, saving municipal funds while reaching more people instantly.</a:t>
            </a:r>
          </a:p>
          <a:p>
            <a:pPr>
              <a:spcBef>
                <a:spcPts val="2200"/>
              </a:spcBef>
            </a:pPr>
            <a:r>
              <a:rPr sz="1450" b="1" dirty="0">
                <a:solidFill>
                  <a:srgbClr val="0F172A"/>
                </a:solidFill>
              </a:rPr>
              <a:t>• Saves Lives on the Road: </a:t>
            </a:r>
            <a:r>
              <a:rPr sz="1450" b="0" dirty="0">
                <a:solidFill>
                  <a:srgbClr val="334155"/>
                </a:solidFill>
              </a:rPr>
              <a:t>Steers escaping cars away from landslides directly to shelters that have available beds and food supplies.</a:t>
            </a:r>
          </a:p>
          <a:p>
            <a:pPr>
              <a:spcBef>
                <a:spcPts val="2200"/>
              </a:spcBef>
            </a:pPr>
            <a:r>
              <a:rPr sz="1450" b="1" dirty="0">
                <a:solidFill>
                  <a:srgbClr val="0F172A"/>
                </a:solidFill>
              </a:rPr>
              <a:t>• Global Standards: </a:t>
            </a:r>
            <a:r>
              <a:rPr sz="1450" b="0" dirty="0">
                <a:solidFill>
                  <a:srgbClr val="334155"/>
                </a:solidFill>
              </a:rPr>
              <a:t>Follows OASIS CAP v1.2 international standards so it works seamlessly with national disaster systems.</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ROADMAP</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Future Scope: Next Steps &amp; Future Enhancements</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77272" y="402336"/>
            <a:ext cx="1463040" cy="310896"/>
          </a:xfrm>
          <a:prstGeom prst="rect">
            <a:avLst/>
          </a:prstGeom>
          <a:noFill/>
        </p:spPr>
        <p:txBody>
          <a:bodyPr wrap="square" lIns="0" tIns="0" rIns="0" bIns="0">
            <a:spAutoFit/>
          </a:bodyPr>
          <a:lstStyle/>
          <a:p>
            <a:pPr algn="ctr">
              <a:defRPr sz="1300" b="1">
                <a:solidFill>
                  <a:srgbClr val="007AFF"/>
                </a:solidFill>
              </a:defRPr>
            </a:pPr>
            <a:r>
              <a:rPr dirty="0"/>
              <a:t>12 / 14</a:t>
            </a:r>
          </a:p>
        </p:txBody>
      </p:sp>
      <p:sp>
        <p:nvSpPr>
          <p:cNvPr id="9" name="Rounded Rectangle 8"/>
          <p:cNvSpPr/>
          <p:nvPr/>
        </p:nvSpPr>
        <p:spPr>
          <a:xfrm>
            <a:off x="548640" y="1188720"/>
            <a:ext cx="5440680" cy="25603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371600"/>
            <a:ext cx="4928616" cy="411480"/>
          </a:xfrm>
          <a:prstGeom prst="rect">
            <a:avLst/>
          </a:prstGeom>
          <a:noFill/>
        </p:spPr>
        <p:txBody>
          <a:bodyPr wrap="square" lIns="0" tIns="0" rIns="0" bIns="0">
            <a:spAutoFit/>
          </a:bodyPr>
          <a:lstStyle/>
          <a:p>
            <a:pPr>
              <a:defRPr sz="1750" b="1">
                <a:solidFill>
                  <a:srgbClr val="007AFF"/>
                </a:solidFill>
              </a:defRPr>
            </a:pPr>
            <a:r>
              <a:t>1. Radar Satellites &amp; Drones</a:t>
            </a:r>
          </a:p>
        </p:txBody>
      </p:sp>
      <p:sp>
        <p:nvSpPr>
          <p:cNvPr id="11" name="TextBox 10"/>
          <p:cNvSpPr txBox="1"/>
          <p:nvPr/>
        </p:nvSpPr>
        <p:spPr>
          <a:xfrm>
            <a:off x="804672" y="1783080"/>
            <a:ext cx="4928616" cy="1874520"/>
          </a:xfrm>
          <a:prstGeom prst="rect">
            <a:avLst/>
          </a:prstGeom>
          <a:noFill/>
        </p:spPr>
        <p:txBody>
          <a:bodyPr wrap="square">
            <a:spAutoFit/>
          </a:bodyPr>
          <a:lstStyle/>
          <a:p>
            <a:pPr>
              <a:spcBef>
                <a:spcPts val="400"/>
              </a:spcBef>
              <a:defRPr sz="1350">
                <a:solidFill>
                  <a:srgbClr val="334155"/>
                </a:solidFill>
              </a:defRPr>
            </a:pPr>
            <a:r>
              <a:t>Use Sentinel-1 radar and drone photos to detect ground slipping by millimeters before hills collapse.</a:t>
            </a:r>
          </a:p>
        </p:txBody>
      </p:sp>
      <p:sp>
        <p:nvSpPr>
          <p:cNvPr id="12" name="Rounded Rectangle 11"/>
          <p:cNvSpPr/>
          <p:nvPr/>
        </p:nvSpPr>
        <p:spPr>
          <a:xfrm>
            <a:off x="6199632" y="1188720"/>
            <a:ext cx="5440680" cy="2560320"/>
          </a:xfrm>
          <a:prstGeom prst="roundRect">
            <a:avLst/>
          </a:prstGeom>
          <a:solidFill>
            <a:srgbClr val="FFFFFF"/>
          </a:solidFill>
          <a:ln w="1524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1371600"/>
            <a:ext cx="4928616" cy="411480"/>
          </a:xfrm>
          <a:prstGeom prst="rect">
            <a:avLst/>
          </a:prstGeom>
          <a:noFill/>
        </p:spPr>
        <p:txBody>
          <a:bodyPr wrap="square" lIns="0" tIns="0" rIns="0" bIns="0">
            <a:spAutoFit/>
          </a:bodyPr>
          <a:lstStyle/>
          <a:p>
            <a:pPr>
              <a:defRPr sz="1750" b="1">
                <a:solidFill>
                  <a:srgbClr val="D97706"/>
                </a:solidFill>
              </a:defRPr>
            </a:pPr>
            <a:r>
              <a:t>2. Solar IoT Ground Sensors</a:t>
            </a:r>
          </a:p>
        </p:txBody>
      </p:sp>
      <p:sp>
        <p:nvSpPr>
          <p:cNvPr id="14" name="TextBox 13"/>
          <p:cNvSpPr txBox="1"/>
          <p:nvPr/>
        </p:nvSpPr>
        <p:spPr>
          <a:xfrm>
            <a:off x="6455664" y="1783080"/>
            <a:ext cx="4928616" cy="1874520"/>
          </a:xfrm>
          <a:prstGeom prst="rect">
            <a:avLst/>
          </a:prstGeom>
          <a:noFill/>
        </p:spPr>
        <p:txBody>
          <a:bodyPr wrap="square">
            <a:spAutoFit/>
          </a:bodyPr>
          <a:lstStyle/>
          <a:p>
            <a:pPr>
              <a:spcBef>
                <a:spcPts val="400"/>
              </a:spcBef>
              <a:defRPr sz="1350">
                <a:solidFill>
                  <a:srgbClr val="334155"/>
                </a:solidFill>
              </a:defRPr>
            </a:pPr>
            <a:r>
              <a:t>Place low-cost solar tiltmeters and moisture probes on dangerous hairpin turns linked via radio.</a:t>
            </a:r>
          </a:p>
        </p:txBody>
      </p:sp>
      <p:sp>
        <p:nvSpPr>
          <p:cNvPr id="15" name="Rounded Rectangle 14"/>
          <p:cNvSpPr/>
          <p:nvPr/>
        </p:nvSpPr>
        <p:spPr>
          <a:xfrm>
            <a:off x="548640" y="3931920"/>
            <a:ext cx="5440680" cy="2560320"/>
          </a:xfrm>
          <a:prstGeom prst="roundRect">
            <a:avLst/>
          </a:prstGeom>
          <a:solidFill>
            <a:srgbClr val="FFFFFF"/>
          </a:solidFill>
          <a:ln w="1524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4114800"/>
            <a:ext cx="4928616" cy="411480"/>
          </a:xfrm>
          <a:prstGeom prst="rect">
            <a:avLst/>
          </a:prstGeom>
          <a:noFill/>
        </p:spPr>
        <p:txBody>
          <a:bodyPr wrap="square" lIns="0" tIns="0" rIns="0" bIns="0">
            <a:spAutoFit/>
          </a:bodyPr>
          <a:lstStyle/>
          <a:p>
            <a:pPr>
              <a:defRPr sz="1750" b="1">
                <a:solidFill>
                  <a:srgbClr val="007AFF"/>
                </a:solidFill>
              </a:defRPr>
            </a:pPr>
            <a:r>
              <a:t>3. Offline Shelter Mesh</a:t>
            </a:r>
          </a:p>
        </p:txBody>
      </p:sp>
      <p:sp>
        <p:nvSpPr>
          <p:cNvPr id="17" name="TextBox 16"/>
          <p:cNvSpPr txBox="1"/>
          <p:nvPr/>
        </p:nvSpPr>
        <p:spPr>
          <a:xfrm>
            <a:off x="804672" y="4526280"/>
            <a:ext cx="4928616" cy="1874520"/>
          </a:xfrm>
          <a:prstGeom prst="rect">
            <a:avLst/>
          </a:prstGeom>
          <a:noFill/>
        </p:spPr>
        <p:txBody>
          <a:bodyPr wrap="square">
            <a:spAutoFit/>
          </a:bodyPr>
          <a:lstStyle/>
          <a:p>
            <a:pPr>
              <a:spcBef>
                <a:spcPts val="400"/>
              </a:spcBef>
              <a:defRPr sz="1350">
                <a:solidFill>
                  <a:srgbClr val="334155"/>
                </a:solidFill>
              </a:defRPr>
            </a:pPr>
            <a:r>
              <a:t>Allow local shelter servers to keep running AI models even when internet cables are cut during storms.</a:t>
            </a:r>
          </a:p>
        </p:txBody>
      </p:sp>
      <p:sp>
        <p:nvSpPr>
          <p:cNvPr id="18" name="Rounded Rectangle 17"/>
          <p:cNvSpPr/>
          <p:nvPr/>
        </p:nvSpPr>
        <p:spPr>
          <a:xfrm>
            <a:off x="6199632" y="3931920"/>
            <a:ext cx="5440680" cy="2560320"/>
          </a:xfrm>
          <a:prstGeom prst="roundRect">
            <a:avLst/>
          </a:prstGeom>
          <a:solidFill>
            <a:srgbClr val="FFFFFF"/>
          </a:solidFill>
          <a:ln w="1524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55664" y="4114800"/>
            <a:ext cx="4928616" cy="411480"/>
          </a:xfrm>
          <a:prstGeom prst="rect">
            <a:avLst/>
          </a:prstGeom>
          <a:noFill/>
        </p:spPr>
        <p:txBody>
          <a:bodyPr wrap="square" lIns="0" tIns="0" rIns="0" bIns="0">
            <a:spAutoFit/>
          </a:bodyPr>
          <a:lstStyle/>
          <a:p>
            <a:pPr>
              <a:defRPr sz="1750" b="1">
                <a:solidFill>
                  <a:srgbClr val="10B981"/>
                </a:solidFill>
              </a:defRPr>
            </a:pPr>
            <a:r>
              <a:t>4. Voice Alerts in Malayalam</a:t>
            </a:r>
          </a:p>
        </p:txBody>
      </p:sp>
      <p:sp>
        <p:nvSpPr>
          <p:cNvPr id="20" name="TextBox 19"/>
          <p:cNvSpPr txBox="1"/>
          <p:nvPr/>
        </p:nvSpPr>
        <p:spPr>
          <a:xfrm>
            <a:off x="6455664" y="4526280"/>
            <a:ext cx="4928616" cy="1874520"/>
          </a:xfrm>
          <a:prstGeom prst="rect">
            <a:avLst/>
          </a:prstGeom>
          <a:noFill/>
        </p:spPr>
        <p:txBody>
          <a:bodyPr wrap="square">
            <a:spAutoFit/>
          </a:bodyPr>
          <a:lstStyle/>
          <a:p>
            <a:pPr>
              <a:spcBef>
                <a:spcPts val="400"/>
              </a:spcBef>
              <a:defRPr sz="1350">
                <a:solidFill>
                  <a:srgbClr val="334155"/>
                </a:solidFill>
              </a:defRPr>
            </a:pPr>
            <a:r>
              <a:t>Use voice AI to send spoken warnings in Malayalam and tribal dialects for elderly hill residents.</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058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87552"/>
            <a:ext cx="12191695" cy="18288"/>
          </a:xfrm>
          <a:prstGeom prst="rect">
            <a:avLst/>
          </a:prstGeom>
          <a:solidFill>
            <a:srgbClr val="007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09728"/>
            <a:ext cx="7772400" cy="256032"/>
          </a:xfrm>
          <a:prstGeom prst="rect">
            <a:avLst/>
          </a:prstGeom>
          <a:noFill/>
        </p:spPr>
        <p:txBody>
          <a:bodyPr wrap="square" lIns="0" tIns="0" rIns="0" bIns="0">
            <a:spAutoFit/>
          </a:bodyPr>
          <a:lstStyle/>
          <a:p>
            <a:pPr>
              <a:defRPr sz="1150" b="1">
                <a:solidFill>
                  <a:srgbClr val="007AFF"/>
                </a:solidFill>
              </a:defRPr>
            </a:pPr>
            <a:r>
              <a:t>TERRARISK AI  ▸  BIBLIOGRAPHY</a:t>
            </a:r>
          </a:p>
        </p:txBody>
      </p:sp>
      <p:sp>
        <p:nvSpPr>
          <p:cNvPr id="6" name="TextBox 5"/>
          <p:cNvSpPr txBox="1"/>
          <p:nvPr/>
        </p:nvSpPr>
        <p:spPr>
          <a:xfrm>
            <a:off x="548640" y="347472"/>
            <a:ext cx="9601200" cy="594360"/>
          </a:xfrm>
          <a:prstGeom prst="rect">
            <a:avLst/>
          </a:prstGeom>
          <a:noFill/>
        </p:spPr>
        <p:txBody>
          <a:bodyPr wrap="square" lIns="0" tIns="0" rIns="0" bIns="0">
            <a:spAutoFit/>
          </a:bodyPr>
          <a:lstStyle/>
          <a:p>
            <a:pPr>
              <a:defRPr sz="2800" b="1">
                <a:solidFill>
                  <a:srgbClr val="0F172A"/>
                </a:solidFill>
              </a:defRPr>
            </a:pPr>
            <a:r>
              <a:t>References: Key Academic Papers &amp; Reports</a:t>
            </a:r>
          </a:p>
        </p:txBody>
      </p:sp>
      <p:sp>
        <p:nvSpPr>
          <p:cNvPr id="7" name="Rounded Rectangle 6"/>
          <p:cNvSpPr/>
          <p:nvPr/>
        </p:nvSpPr>
        <p:spPr>
          <a:xfrm>
            <a:off x="10180015" y="292608"/>
            <a:ext cx="1463040" cy="420624"/>
          </a:xfrm>
          <a:prstGeom prst="roundRect">
            <a:avLst/>
          </a:prstGeom>
          <a:solidFill>
            <a:srgbClr val="F0F7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40" y="402336"/>
            <a:ext cx="1463040" cy="310896"/>
          </a:xfrm>
          <a:prstGeom prst="rect">
            <a:avLst/>
          </a:prstGeom>
          <a:noFill/>
        </p:spPr>
        <p:txBody>
          <a:bodyPr wrap="square" lIns="0" tIns="0" rIns="0" bIns="0">
            <a:spAutoFit/>
          </a:bodyPr>
          <a:lstStyle/>
          <a:p>
            <a:pPr algn="ctr">
              <a:defRPr sz="1300" b="1">
                <a:solidFill>
                  <a:srgbClr val="007AFF"/>
                </a:solidFill>
              </a:defRPr>
            </a:pPr>
            <a:r>
              <a:t>13 / 14</a:t>
            </a:r>
          </a:p>
        </p:txBody>
      </p:sp>
      <p:sp>
        <p:nvSpPr>
          <p:cNvPr id="9" name="Rounded Rectangle 8"/>
          <p:cNvSpPr/>
          <p:nvPr/>
        </p:nvSpPr>
        <p:spPr>
          <a:xfrm>
            <a:off x="548640" y="1188720"/>
            <a:ext cx="11094415" cy="53035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2688" y="1463040"/>
            <a:ext cx="10582351" cy="411480"/>
          </a:xfrm>
          <a:prstGeom prst="rect">
            <a:avLst/>
          </a:prstGeom>
          <a:noFill/>
        </p:spPr>
        <p:txBody>
          <a:bodyPr wrap="square" lIns="0" tIns="0" rIns="0" bIns="0">
            <a:spAutoFit/>
          </a:bodyPr>
          <a:lstStyle/>
          <a:p>
            <a:pPr>
              <a:defRPr sz="1750" b="1">
                <a:solidFill>
                  <a:srgbClr val="0F172A"/>
                </a:solidFill>
              </a:defRPr>
            </a:pPr>
            <a:r>
              <a:rPr dirty="0"/>
              <a:t>Selected Academic References</a:t>
            </a:r>
          </a:p>
        </p:txBody>
      </p:sp>
      <p:sp>
        <p:nvSpPr>
          <p:cNvPr id="11" name="TextBox 10"/>
          <p:cNvSpPr txBox="1"/>
          <p:nvPr/>
        </p:nvSpPr>
        <p:spPr>
          <a:xfrm>
            <a:off x="804672" y="1828800"/>
            <a:ext cx="10582351" cy="2726387"/>
          </a:xfrm>
          <a:prstGeom prst="rect">
            <a:avLst/>
          </a:prstGeom>
          <a:noFill/>
        </p:spPr>
        <p:txBody>
          <a:bodyPr wrap="square">
            <a:spAutoFit/>
          </a:bodyPr>
          <a:lstStyle/>
          <a:p>
            <a:pPr>
              <a:spcBef>
                <a:spcPts val="1400"/>
              </a:spcBef>
            </a:pPr>
            <a:r>
              <a:rPr lang="en-IN" sz="1300" b="1" dirty="0">
                <a:solidFill>
                  <a:srgbClr val="0F172A"/>
                </a:solidFill>
              </a:rPr>
              <a:t>[1] Geological Survey of India (GSI) &amp; KSDMA (2024): </a:t>
            </a:r>
            <a:r>
              <a:rPr lang="en-IN" sz="1250" dirty="0">
                <a:solidFill>
                  <a:srgbClr val="334155"/>
                </a:solidFill>
              </a:rPr>
              <a:t>"Assessment of </a:t>
            </a:r>
            <a:r>
              <a:rPr lang="en-IN" sz="1250" dirty="0" err="1">
                <a:solidFill>
                  <a:srgbClr val="334155"/>
                </a:solidFill>
              </a:rPr>
              <a:t>Chooralmala-Meppadi</a:t>
            </a:r>
            <a:r>
              <a:rPr lang="en-IN" sz="1250" dirty="0">
                <a:solidFill>
                  <a:srgbClr val="334155"/>
                </a:solidFill>
              </a:rPr>
              <a:t> Debris Flows and Wayanad Landslide Disasters." </a:t>
            </a:r>
            <a:r>
              <a:rPr lang="en-IN" sz="1200" i="1" dirty="0">
                <a:solidFill>
                  <a:srgbClr val="64748B"/>
                </a:solidFill>
              </a:rPr>
              <a:t>Special Post-Disaster Geotechnical Investigation Report, Government of Kerala. </a:t>
            </a:r>
            <a:r>
              <a:rPr lang="en-IN" sz="1150" b="1" u="sng" dirty="0">
                <a:solidFill>
                  <a:srgbClr val="007AFF"/>
                </a:solidFill>
                <a:hlinkClick r:id="rId3"/>
              </a:rPr>
              <a:t>[Paper Link / DOI: https://sdma.kerala.gov.in]</a:t>
            </a:r>
          </a:p>
          <a:p>
            <a:pPr>
              <a:spcBef>
                <a:spcPts val="1400"/>
              </a:spcBef>
            </a:pPr>
            <a:r>
              <a:rPr lang="en-IN" sz="1300" b="1" dirty="0">
                <a:solidFill>
                  <a:srgbClr val="0F172A"/>
                </a:solidFill>
              </a:rPr>
              <a:t>[2] Caine, N. (1980): </a:t>
            </a:r>
            <a:r>
              <a:rPr lang="en-IN" sz="1250" dirty="0">
                <a:solidFill>
                  <a:srgbClr val="334155"/>
                </a:solidFill>
              </a:rPr>
              <a:t>"The Rainfall Intensity - Duration Control of Shallow Landslides and Debris Flows." </a:t>
            </a:r>
            <a:r>
              <a:rPr lang="en-IN" sz="1200" i="1" dirty="0" err="1">
                <a:solidFill>
                  <a:srgbClr val="64748B"/>
                </a:solidFill>
              </a:rPr>
              <a:t>Geografiska</a:t>
            </a:r>
            <a:r>
              <a:rPr lang="en-IN" sz="1200" i="1" dirty="0">
                <a:solidFill>
                  <a:srgbClr val="64748B"/>
                </a:solidFill>
              </a:rPr>
              <a:t> </a:t>
            </a:r>
            <a:r>
              <a:rPr lang="en-IN" sz="1200" i="1" dirty="0" err="1">
                <a:solidFill>
                  <a:srgbClr val="64748B"/>
                </a:solidFill>
              </a:rPr>
              <a:t>Annaler</a:t>
            </a:r>
            <a:r>
              <a:rPr lang="en-IN" sz="1200" i="1" dirty="0">
                <a:solidFill>
                  <a:srgbClr val="64748B"/>
                </a:solidFill>
              </a:rPr>
              <a:t>: Series A, Physical Geography, 62(1-2), pp. 23–27. </a:t>
            </a:r>
            <a:r>
              <a:rPr lang="en-IN" sz="1150" b="1" u="sng" dirty="0">
                <a:solidFill>
                  <a:srgbClr val="007AFF"/>
                </a:solidFill>
                <a:hlinkClick r:id="rId4"/>
              </a:rPr>
              <a:t>[Paper Link / DOI: https://doi.org/10.1080/04353676.1980.11879996]</a:t>
            </a:r>
          </a:p>
          <a:p>
            <a:pPr>
              <a:spcBef>
                <a:spcPts val="1400"/>
              </a:spcBef>
            </a:pPr>
            <a:r>
              <a:rPr lang="en-IN" sz="1300" b="1" dirty="0">
                <a:solidFill>
                  <a:srgbClr val="0F172A"/>
                </a:solidFill>
              </a:rPr>
              <a:t>[3] Guzzetti, F., </a:t>
            </a:r>
            <a:r>
              <a:rPr lang="en-IN" sz="1300" b="1" dirty="0" err="1">
                <a:solidFill>
                  <a:srgbClr val="0F172A"/>
                </a:solidFill>
              </a:rPr>
              <a:t>Peruccacci</a:t>
            </a:r>
            <a:r>
              <a:rPr lang="en-IN" sz="1300" b="1" dirty="0">
                <a:solidFill>
                  <a:srgbClr val="0F172A"/>
                </a:solidFill>
              </a:rPr>
              <a:t>, S., Rossi, M., &amp; Stark, C. P. (2008): </a:t>
            </a:r>
            <a:r>
              <a:rPr lang="en-IN" sz="1250" dirty="0">
                <a:solidFill>
                  <a:srgbClr val="334155"/>
                </a:solidFill>
              </a:rPr>
              <a:t>"The rainfall intensity–duration control of shallow landslides and debris flows: an update." </a:t>
            </a:r>
            <a:r>
              <a:rPr lang="en-IN" sz="1200" i="1" dirty="0">
                <a:solidFill>
                  <a:srgbClr val="64748B"/>
                </a:solidFill>
              </a:rPr>
              <a:t>Landslides, 5(1), pp. 3–17. </a:t>
            </a:r>
            <a:r>
              <a:rPr lang="en-IN" sz="1150" b="1" u="sng" dirty="0">
                <a:solidFill>
                  <a:srgbClr val="007AFF"/>
                </a:solidFill>
                <a:hlinkClick r:id="rId5"/>
              </a:rPr>
              <a:t>[Paper Link / DOI: https://doi.org/10.1007/s10346-007-0112-1]</a:t>
            </a:r>
          </a:p>
          <a:p>
            <a:pPr>
              <a:spcBef>
                <a:spcPts val="1400"/>
              </a:spcBef>
            </a:pPr>
            <a:r>
              <a:rPr lang="en-IN" sz="1300" b="1" dirty="0">
                <a:solidFill>
                  <a:srgbClr val="0F172A"/>
                </a:solidFill>
              </a:rPr>
              <a:t>[4] Friedman, J. H. (2001): </a:t>
            </a:r>
            <a:r>
              <a:rPr lang="en-IN" sz="1250" dirty="0">
                <a:solidFill>
                  <a:srgbClr val="334155"/>
                </a:solidFill>
              </a:rPr>
              <a:t>"Greedy Function Approximation: A Gradient Boosting Machine." </a:t>
            </a:r>
            <a:r>
              <a:rPr lang="en-IN" sz="1200" i="1" dirty="0">
                <a:solidFill>
                  <a:srgbClr val="64748B"/>
                </a:solidFill>
              </a:rPr>
              <a:t>The Annals of Statistics, 29(5), pp. 1189–1232. </a:t>
            </a:r>
            <a:r>
              <a:rPr lang="en-IN" sz="1150" b="1" u="sng" dirty="0">
                <a:solidFill>
                  <a:srgbClr val="007AFF"/>
                </a:solidFill>
                <a:hlinkClick r:id="rId6"/>
              </a:rPr>
              <a:t>[Paper Link / DOI: https://doi.org/10.1214/aos/1013203451]</a:t>
            </a:r>
          </a:p>
          <a:p>
            <a:pPr>
              <a:spcBef>
                <a:spcPts val="1400"/>
              </a:spcBef>
            </a:pPr>
            <a:r>
              <a:rPr lang="en-IN" sz="1300" b="1" dirty="0">
                <a:solidFill>
                  <a:srgbClr val="0F172A"/>
                </a:solidFill>
              </a:rPr>
              <a:t>[5] Chen, T., &amp; </a:t>
            </a:r>
            <a:r>
              <a:rPr lang="en-IN" sz="1300" b="1" dirty="0" err="1">
                <a:solidFill>
                  <a:srgbClr val="0F172A"/>
                </a:solidFill>
              </a:rPr>
              <a:t>Guestrin</a:t>
            </a:r>
            <a:r>
              <a:rPr lang="en-IN" sz="1300" b="1" dirty="0">
                <a:solidFill>
                  <a:srgbClr val="0F172A"/>
                </a:solidFill>
              </a:rPr>
              <a:t>, C. (2016): </a:t>
            </a:r>
            <a:r>
              <a:rPr lang="en-IN" sz="1250" dirty="0">
                <a:solidFill>
                  <a:srgbClr val="334155"/>
                </a:solidFill>
              </a:rPr>
              <a:t>"</a:t>
            </a:r>
            <a:r>
              <a:rPr lang="en-IN" sz="1250" dirty="0" err="1">
                <a:solidFill>
                  <a:srgbClr val="334155"/>
                </a:solidFill>
              </a:rPr>
              <a:t>XGBoost</a:t>
            </a:r>
            <a:r>
              <a:rPr lang="en-IN" sz="1250" dirty="0">
                <a:solidFill>
                  <a:srgbClr val="334155"/>
                </a:solidFill>
              </a:rPr>
              <a:t>: A Scalable Tree Boosting System." </a:t>
            </a:r>
            <a:r>
              <a:rPr lang="en-IN" sz="1200" i="1" dirty="0">
                <a:solidFill>
                  <a:srgbClr val="64748B"/>
                </a:solidFill>
              </a:rPr>
              <a:t>Proceedings of the 22nd ACM SIGKDD International Conference on Knowledge Discovery and Data Mining (KDD '16), pp. 785–794. </a:t>
            </a:r>
            <a:r>
              <a:rPr lang="en-IN" sz="1150" b="1" u="sng" dirty="0">
                <a:solidFill>
                  <a:srgbClr val="007AFF"/>
                </a:solidFill>
                <a:hlinkClick r:id="rId7"/>
              </a:rPr>
              <a:t>[Paper Link / DOI: https://doi.org/10.1145/2939672.2939785]</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371600" y="-914400"/>
            <a:ext cx="8229600" cy="50292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57200" y="-457200"/>
            <a:ext cx="6858000" cy="41148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57200" y="0"/>
            <a:ext cx="5486400" cy="32004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0" y="3200400"/>
            <a:ext cx="7772400" cy="502920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6858000" y="3840480"/>
            <a:ext cx="6400800" cy="384048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772400" y="4480560"/>
            <a:ext cx="5029200" cy="2926080"/>
          </a:xfrm>
          <a:prstGeom prst="ellipse">
            <a:avLst/>
          </a:prstGeom>
          <a:noFill/>
          <a:ln w="15240">
            <a:solidFill>
              <a:srgbClr val="DC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48640" y="731520"/>
            <a:ext cx="11094415" cy="539496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63040" y="2286000"/>
            <a:ext cx="9265615" cy="2194560"/>
          </a:xfrm>
          <a:prstGeom prst="rect">
            <a:avLst/>
          </a:prstGeom>
          <a:noFill/>
        </p:spPr>
        <p:txBody>
          <a:bodyPr wrap="square" lIns="0" tIns="0" rIns="0" bIns="0">
            <a:spAutoFit/>
          </a:bodyPr>
          <a:lstStyle/>
          <a:p>
            <a:pPr algn="ctr">
              <a:defRPr sz="9600" b="1">
                <a:solidFill>
                  <a:srgbClr val="007AFF"/>
                </a:solidFill>
              </a:defRPr>
            </a:pPr>
            <a:r>
              <a:t>Thank You</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TotalTime>
  <Words>3161</Words>
  <Application>Microsoft Office PowerPoint</Application>
  <PresentationFormat>Widescreen</PresentationFormat>
  <Paragraphs>251</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Abhinav Rajesh</cp:lastModifiedBy>
  <cp:revision>20</cp:revision>
  <dcterms:created xsi:type="dcterms:W3CDTF">2013-01-27T09:14:16Z</dcterms:created>
  <dcterms:modified xsi:type="dcterms:W3CDTF">2026-09-15T04:33:50Z</dcterms:modified>
  <cp:category/>
</cp:coreProperties>
</file>